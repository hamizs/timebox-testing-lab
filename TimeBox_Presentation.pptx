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13" r:id="rId1"/>
  </p:sldMasterIdLst>
  <p:notesMasterIdLst>
    <p:notesMasterId r:id="rId16"/>
  </p:notesMasterIdLst>
  <p:sldIdLst>
    <p:sldId id="2400" r:id="rId2"/>
    <p:sldId id="2449" r:id="rId3"/>
    <p:sldId id="2450" r:id="rId4"/>
    <p:sldId id="836" r:id="rId5"/>
    <p:sldId id="2447" r:id="rId6"/>
    <p:sldId id="887" r:id="rId7"/>
    <p:sldId id="2389" r:id="rId8"/>
    <p:sldId id="2451" r:id="rId9"/>
    <p:sldId id="2452" r:id="rId10"/>
    <p:sldId id="256" r:id="rId11"/>
    <p:sldId id="2395" r:id="rId12"/>
    <p:sldId id="2453" r:id="rId13"/>
    <p:sldId id="2393" r:id="rId14"/>
    <p:sldId id="2396" r:id="rId15"/>
  </p:sldIdLst>
  <p:sldSz cx="24384000" cy="13716000"/>
  <p:notesSz cx="6858000" cy="9144000"/>
  <p:embeddedFontLst>
    <p:embeddedFont>
      <p:font typeface="Arial Black" panose="020B0604020202020204" pitchFamily="34" charset="0"/>
      <p:bold r:id="rId17"/>
      <p:italic r:id="rId18"/>
      <p:boldItalic r:id="rId19"/>
    </p:embeddedFont>
    <p:embeddedFont>
      <p:font typeface="Open Sans" panose="020B0606030504020204" pitchFamily="34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-Slide" id="{D06B2CE0-267B-2C4F-AB82-28D9BC7DE361}">
          <p14:sldIdLst>
            <p14:sldId id="2400"/>
          </p14:sldIdLst>
        </p14:section>
        <p14:section name="Layout-Options" id="{C2516D69-A22C-E641-80C9-C429020AF128}">
          <p14:sldIdLst>
            <p14:sldId id="2449"/>
            <p14:sldId id="2450"/>
            <p14:sldId id="836"/>
            <p14:sldId id="2447"/>
            <p14:sldId id="887"/>
            <p14:sldId id="2389"/>
            <p14:sldId id="2451"/>
            <p14:sldId id="2452"/>
            <p14:sldId id="256"/>
            <p14:sldId id="2395"/>
            <p14:sldId id="2453"/>
            <p14:sldId id="2393"/>
          </p14:sldIdLst>
        </p14:section>
        <p14:section name="Closing Slide" id="{11273E5A-08EC-7C45-BB1B-0F84771C5A8B}">
          <p14:sldIdLst>
            <p14:sldId id="23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6363"/>
    <a:srgbClr val="3D3D3D"/>
    <a:srgbClr val="8F4100"/>
    <a:srgbClr val="D2D9DF"/>
    <a:srgbClr val="005F86"/>
    <a:srgbClr val="AC4600"/>
    <a:srgbClr val="762E00"/>
    <a:srgbClr val="000000"/>
    <a:srgbClr val="868686"/>
    <a:srgbClr val="E8E3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4AEE36F3-B089-8746-A9FC-0AC7E9C42EFA}" type="datetimeFigureOut">
              <a:rPr lang="en-US" smtClean="0"/>
              <a:pPr/>
              <a:t>4/17/26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22A4FA1-3BA7-AE4A-9D15-B4A5C51EA5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6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4265DF-0513-614A-BADE-6DDBD71229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14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72113C65-304B-4938-9720-CF75A6A3DA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4000" cy="13716000"/>
          </a:xfrm>
          <a:custGeom>
            <a:avLst/>
            <a:gdLst>
              <a:gd name="connsiteX0" fmla="*/ 0 w 8656549"/>
              <a:gd name="connsiteY0" fmla="*/ 0 h 11995481"/>
              <a:gd name="connsiteX1" fmla="*/ 8656549 w 8656549"/>
              <a:gd name="connsiteY1" fmla="*/ 0 h 11995481"/>
              <a:gd name="connsiteX2" fmla="*/ 8656549 w 8656549"/>
              <a:gd name="connsiteY2" fmla="*/ 11995481 h 11995481"/>
              <a:gd name="connsiteX3" fmla="*/ 0 w 8656549"/>
              <a:gd name="connsiteY3" fmla="*/ 11995481 h 11995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6549" h="11995481">
                <a:moveTo>
                  <a:pt x="0" y="0"/>
                </a:moveTo>
                <a:lnTo>
                  <a:pt x="8656549" y="0"/>
                </a:lnTo>
                <a:lnTo>
                  <a:pt x="8656549" y="11995481"/>
                </a:lnTo>
                <a:lnTo>
                  <a:pt x="0" y="1199548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57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01 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72113C65-304B-4938-9720-CF75A6A3DA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13716000"/>
          </a:xfrm>
          <a:custGeom>
            <a:avLst/>
            <a:gdLst>
              <a:gd name="connsiteX0" fmla="*/ 0 w 8656549"/>
              <a:gd name="connsiteY0" fmla="*/ 0 h 11995481"/>
              <a:gd name="connsiteX1" fmla="*/ 8656549 w 8656549"/>
              <a:gd name="connsiteY1" fmla="*/ 0 h 11995481"/>
              <a:gd name="connsiteX2" fmla="*/ 8656549 w 8656549"/>
              <a:gd name="connsiteY2" fmla="*/ 11995481 h 11995481"/>
              <a:gd name="connsiteX3" fmla="*/ 0 w 8656549"/>
              <a:gd name="connsiteY3" fmla="*/ 11995481 h 11995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6549" h="11995481">
                <a:moveTo>
                  <a:pt x="0" y="0"/>
                </a:moveTo>
                <a:lnTo>
                  <a:pt x="8656549" y="0"/>
                </a:lnTo>
                <a:lnTo>
                  <a:pt x="8656549" y="11995481"/>
                </a:lnTo>
                <a:lnTo>
                  <a:pt x="0" y="1199548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03E4C-5F9C-DB44-B8CE-0F25B61E3D6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2000" y="0"/>
            <a:ext cx="12192000" cy="13716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4220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AE6DE3-ACCA-BB47-BADB-32BEBD333D7D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spc="600" dirty="0">
                <a:solidFill>
                  <a:schemeClr val="tx2"/>
                </a:solidFill>
                <a:latin typeface="Arial Black" panose="020B0604020202020204" pitchFamily="34" charset="0"/>
                <a:ea typeface="Roboto Slab" pitchFamily="2" charset="0"/>
                <a:cs typeface="Arial Black" panose="020B0604020202020204" pitchFamily="34" charset="0"/>
              </a:rPr>
              <a:t>TEXAS</a:t>
            </a:r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 ENGINEERING</a:t>
            </a:r>
          </a:p>
        </p:txBody>
      </p:sp>
      <p:sp>
        <p:nvSpPr>
          <p:cNvPr id="5" name="Freeform: Shape 3">
            <a:extLst>
              <a:ext uri="{FF2B5EF4-FFF2-40B4-BE49-F238E27FC236}">
                <a16:creationId xmlns:a16="http://schemas.microsoft.com/office/drawing/2014/main" id="{512AB076-FC4B-744F-B7C2-934A4A6412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557520" y="2237361"/>
            <a:ext cx="8348871" cy="9896581"/>
          </a:xfrm>
          <a:custGeom>
            <a:avLst/>
            <a:gdLst>
              <a:gd name="connsiteX0" fmla="*/ 0 w 8348871"/>
              <a:gd name="connsiteY0" fmla="*/ 0 h 10551886"/>
              <a:gd name="connsiteX1" fmla="*/ 8348871 w 8348871"/>
              <a:gd name="connsiteY1" fmla="*/ 0 h 10551886"/>
              <a:gd name="connsiteX2" fmla="*/ 8348871 w 8348871"/>
              <a:gd name="connsiteY2" fmla="*/ 10551886 h 10551886"/>
              <a:gd name="connsiteX3" fmla="*/ 0 w 8348871"/>
              <a:gd name="connsiteY3" fmla="*/ 10551886 h 1055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48871" h="10551886">
                <a:moveTo>
                  <a:pt x="0" y="0"/>
                </a:moveTo>
                <a:lnTo>
                  <a:pt x="8348871" y="0"/>
                </a:lnTo>
                <a:lnTo>
                  <a:pt x="8348871" y="10551886"/>
                </a:lnTo>
                <a:lnTo>
                  <a:pt x="0" y="1055188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23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8D6673C-5208-4981-AA0F-647CA79E54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76572" y="0"/>
            <a:ext cx="15602856" cy="13716000"/>
          </a:xfrm>
          <a:custGeom>
            <a:avLst/>
            <a:gdLst>
              <a:gd name="connsiteX0" fmla="*/ 0 w 15602856"/>
              <a:gd name="connsiteY0" fmla="*/ 0 h 13716000"/>
              <a:gd name="connsiteX1" fmla="*/ 15602856 w 15602856"/>
              <a:gd name="connsiteY1" fmla="*/ 0 h 13716000"/>
              <a:gd name="connsiteX2" fmla="*/ 15602856 w 15602856"/>
              <a:gd name="connsiteY2" fmla="*/ 13716000 h 13716000"/>
              <a:gd name="connsiteX3" fmla="*/ 0 w 156028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02856" h="13716000">
                <a:moveTo>
                  <a:pt x="0" y="0"/>
                </a:moveTo>
                <a:lnTo>
                  <a:pt x="15602856" y="0"/>
                </a:lnTo>
                <a:lnTo>
                  <a:pt x="15602856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86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3538ECA-E0A9-4D6C-9D48-69A0C86E65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4570" y="0"/>
            <a:ext cx="22279428" cy="13716000"/>
          </a:xfrm>
          <a:custGeom>
            <a:avLst/>
            <a:gdLst>
              <a:gd name="connsiteX0" fmla="*/ 0 w 22279428"/>
              <a:gd name="connsiteY0" fmla="*/ 0 h 13716000"/>
              <a:gd name="connsiteX1" fmla="*/ 22279428 w 22279428"/>
              <a:gd name="connsiteY1" fmla="*/ 0 h 13716000"/>
              <a:gd name="connsiteX2" fmla="*/ 22279428 w 22279428"/>
              <a:gd name="connsiteY2" fmla="*/ 13716000 h 13716000"/>
              <a:gd name="connsiteX3" fmla="*/ 0 w 22279428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279428" h="13716000">
                <a:moveTo>
                  <a:pt x="0" y="0"/>
                </a:moveTo>
                <a:lnTo>
                  <a:pt x="22279428" y="0"/>
                </a:lnTo>
                <a:lnTo>
                  <a:pt x="22279428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8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10EFCCB-15F6-4FD6-AFD9-D2EEF0EE3C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486744" y="2"/>
            <a:ext cx="8897256" cy="13715999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37114-13BB-374C-A785-C680D36AC227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spc="600" dirty="0">
                <a:solidFill>
                  <a:schemeClr val="tx2"/>
                </a:solidFill>
                <a:latin typeface="Arial Black" panose="020B0604020202020204" pitchFamily="34" charset="0"/>
                <a:ea typeface="Roboto Slab" pitchFamily="2" charset="0"/>
                <a:cs typeface="Arial Black" panose="020B0604020202020204" pitchFamily="34" charset="0"/>
              </a:rPr>
              <a:t>TEXAS</a:t>
            </a:r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 ENGINEERING</a:t>
            </a:r>
          </a:p>
        </p:txBody>
      </p:sp>
    </p:spTree>
    <p:extLst>
      <p:ext uri="{BB962C8B-B14F-4D97-AF65-F5344CB8AC3E}">
        <p14:creationId xmlns:p14="http://schemas.microsoft.com/office/powerpoint/2010/main" val="2806474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10EFCCB-15F6-4FD6-AFD9-D2EEF0EE3C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486744" y="9541567"/>
            <a:ext cx="8897256" cy="4174434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reeform: Shape 4">
            <a:extLst>
              <a:ext uri="{FF2B5EF4-FFF2-40B4-BE49-F238E27FC236}">
                <a16:creationId xmlns:a16="http://schemas.microsoft.com/office/drawing/2014/main" id="{8111D5B9-F686-8B42-830F-41BE0A588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486744" y="0"/>
            <a:ext cx="4451152" cy="5267739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7871AEE-7C0B-4342-BDBE-1758B9CEA1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484220" y="5426764"/>
            <a:ext cx="4451152" cy="3995531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reeform: Shape 4">
            <a:extLst>
              <a:ext uri="{FF2B5EF4-FFF2-40B4-BE49-F238E27FC236}">
                <a16:creationId xmlns:a16="http://schemas.microsoft.com/office/drawing/2014/main" id="{65BFDE83-150B-F940-ADEE-5193AA5AEF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056220" y="0"/>
            <a:ext cx="4327780" cy="3995531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Freeform: Shape 4">
            <a:extLst>
              <a:ext uri="{FF2B5EF4-FFF2-40B4-BE49-F238E27FC236}">
                <a16:creationId xmlns:a16="http://schemas.microsoft.com/office/drawing/2014/main" id="{1D54248C-1DD1-FB48-B7A9-E66EC682C9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058744" y="4154556"/>
            <a:ext cx="4325256" cy="5267739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8335D7-3EF0-F244-8A0F-321485799B75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spc="600" dirty="0">
                <a:solidFill>
                  <a:schemeClr val="tx2"/>
                </a:solidFill>
                <a:latin typeface="Arial Black" panose="020B0604020202020204" pitchFamily="34" charset="0"/>
                <a:ea typeface="Roboto Slab" pitchFamily="2" charset="0"/>
                <a:cs typeface="Arial Black" panose="020B0604020202020204" pitchFamily="34" charset="0"/>
              </a:rPr>
              <a:t>TEXAS</a:t>
            </a:r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 ENGINEERING</a:t>
            </a:r>
          </a:p>
        </p:txBody>
      </p:sp>
    </p:spTree>
    <p:extLst>
      <p:ext uri="{BB962C8B-B14F-4D97-AF65-F5344CB8AC3E}">
        <p14:creationId xmlns:p14="http://schemas.microsoft.com/office/powerpoint/2010/main" val="334413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DCF57B4-D83A-4C2A-A3E9-29A728B6E1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2"/>
            <a:ext cx="8897256" cy="13715999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728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96E7831-1AFC-4CA9-A7B8-9B5B38C8A8E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16229" y="0"/>
            <a:ext cx="12467771" cy="13745340"/>
          </a:xfrm>
          <a:custGeom>
            <a:avLst/>
            <a:gdLst>
              <a:gd name="connsiteX0" fmla="*/ 0 w 12467771"/>
              <a:gd name="connsiteY0" fmla="*/ 0 h 13745340"/>
              <a:gd name="connsiteX1" fmla="*/ 12467771 w 12467771"/>
              <a:gd name="connsiteY1" fmla="*/ 0 h 13745340"/>
              <a:gd name="connsiteX2" fmla="*/ 12467771 w 12467771"/>
              <a:gd name="connsiteY2" fmla="*/ 13745340 h 13745340"/>
              <a:gd name="connsiteX3" fmla="*/ 0 w 12467771"/>
              <a:gd name="connsiteY3" fmla="*/ 13745340 h 13745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67771" h="13745340">
                <a:moveTo>
                  <a:pt x="0" y="0"/>
                </a:moveTo>
                <a:lnTo>
                  <a:pt x="12467771" y="0"/>
                </a:lnTo>
                <a:lnTo>
                  <a:pt x="12467771" y="13745340"/>
                </a:lnTo>
                <a:lnTo>
                  <a:pt x="0" y="1374534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170120F-1682-487E-B6DA-EE4962F98F3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7776080"/>
            <a:ext cx="11916229" cy="5939921"/>
          </a:xfrm>
          <a:custGeom>
            <a:avLst/>
            <a:gdLst>
              <a:gd name="connsiteX0" fmla="*/ 0 w 11916229"/>
              <a:gd name="connsiteY0" fmla="*/ 0 h 5939921"/>
              <a:gd name="connsiteX1" fmla="*/ 11916229 w 11916229"/>
              <a:gd name="connsiteY1" fmla="*/ 0 h 5939921"/>
              <a:gd name="connsiteX2" fmla="*/ 11916229 w 11916229"/>
              <a:gd name="connsiteY2" fmla="*/ 5939921 h 5939921"/>
              <a:gd name="connsiteX3" fmla="*/ 0 w 11916229"/>
              <a:gd name="connsiteY3" fmla="*/ 5939921 h 5939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16229" h="5939921">
                <a:moveTo>
                  <a:pt x="0" y="0"/>
                </a:moveTo>
                <a:lnTo>
                  <a:pt x="11916229" y="0"/>
                </a:lnTo>
                <a:lnTo>
                  <a:pt x="11916229" y="5939921"/>
                </a:lnTo>
                <a:lnTo>
                  <a:pt x="0" y="593992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509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B042981-BDBC-43CE-A47D-094C74F996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93714" y="0"/>
            <a:ext cx="12990286" cy="13716000"/>
          </a:xfrm>
          <a:custGeom>
            <a:avLst/>
            <a:gdLst>
              <a:gd name="connsiteX0" fmla="*/ 0 w 12990286"/>
              <a:gd name="connsiteY0" fmla="*/ 0 h 13716000"/>
              <a:gd name="connsiteX1" fmla="*/ 12990286 w 12990286"/>
              <a:gd name="connsiteY1" fmla="*/ 0 h 13716000"/>
              <a:gd name="connsiteX2" fmla="*/ 12990286 w 12990286"/>
              <a:gd name="connsiteY2" fmla="*/ 13716000 h 13716000"/>
              <a:gd name="connsiteX3" fmla="*/ 0 w 1299028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90286" h="13716000">
                <a:moveTo>
                  <a:pt x="0" y="0"/>
                </a:moveTo>
                <a:lnTo>
                  <a:pt x="12990286" y="0"/>
                </a:lnTo>
                <a:lnTo>
                  <a:pt x="12990286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586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4630C85-1319-490C-A55A-A94E7F990D0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637326" y="2130727"/>
            <a:ext cx="6117119" cy="6458858"/>
          </a:xfrm>
          <a:custGeom>
            <a:avLst/>
            <a:gdLst>
              <a:gd name="connsiteX0" fmla="*/ 0 w 6117119"/>
              <a:gd name="connsiteY0" fmla="*/ 0 h 6458858"/>
              <a:gd name="connsiteX1" fmla="*/ 6117119 w 6117119"/>
              <a:gd name="connsiteY1" fmla="*/ 0 h 6458858"/>
              <a:gd name="connsiteX2" fmla="*/ 6117119 w 6117119"/>
              <a:gd name="connsiteY2" fmla="*/ 6458858 h 6458858"/>
              <a:gd name="connsiteX3" fmla="*/ 0 w 6117119"/>
              <a:gd name="connsiteY3" fmla="*/ 6458858 h 6458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119" h="6458858">
                <a:moveTo>
                  <a:pt x="0" y="0"/>
                </a:moveTo>
                <a:lnTo>
                  <a:pt x="6117119" y="0"/>
                </a:lnTo>
                <a:lnTo>
                  <a:pt x="6117119" y="6458858"/>
                </a:lnTo>
                <a:lnTo>
                  <a:pt x="0" y="645885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309317E-C9BC-4155-9875-263F3785A1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33440" y="2130727"/>
            <a:ext cx="6117119" cy="6458858"/>
          </a:xfrm>
          <a:custGeom>
            <a:avLst/>
            <a:gdLst>
              <a:gd name="connsiteX0" fmla="*/ 0 w 6117119"/>
              <a:gd name="connsiteY0" fmla="*/ 0 h 6458858"/>
              <a:gd name="connsiteX1" fmla="*/ 6117119 w 6117119"/>
              <a:gd name="connsiteY1" fmla="*/ 0 h 6458858"/>
              <a:gd name="connsiteX2" fmla="*/ 6117119 w 6117119"/>
              <a:gd name="connsiteY2" fmla="*/ 6458858 h 6458858"/>
              <a:gd name="connsiteX3" fmla="*/ 0 w 6117119"/>
              <a:gd name="connsiteY3" fmla="*/ 6458858 h 6458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119" h="6458858">
                <a:moveTo>
                  <a:pt x="0" y="0"/>
                </a:moveTo>
                <a:lnTo>
                  <a:pt x="6117119" y="0"/>
                </a:lnTo>
                <a:lnTo>
                  <a:pt x="6117119" y="6458858"/>
                </a:lnTo>
                <a:lnTo>
                  <a:pt x="0" y="645885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234A975-D270-445F-978C-D727B2E79AD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29555" y="2130727"/>
            <a:ext cx="6117119" cy="6458858"/>
          </a:xfrm>
          <a:custGeom>
            <a:avLst/>
            <a:gdLst>
              <a:gd name="connsiteX0" fmla="*/ 0 w 6117119"/>
              <a:gd name="connsiteY0" fmla="*/ 0 h 6458858"/>
              <a:gd name="connsiteX1" fmla="*/ 6117119 w 6117119"/>
              <a:gd name="connsiteY1" fmla="*/ 0 h 6458858"/>
              <a:gd name="connsiteX2" fmla="*/ 6117119 w 6117119"/>
              <a:gd name="connsiteY2" fmla="*/ 6458858 h 6458858"/>
              <a:gd name="connsiteX3" fmla="*/ 0 w 6117119"/>
              <a:gd name="connsiteY3" fmla="*/ 6458858 h 6458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17119" h="6458858">
                <a:moveTo>
                  <a:pt x="0" y="0"/>
                </a:moveTo>
                <a:lnTo>
                  <a:pt x="6117119" y="0"/>
                </a:lnTo>
                <a:lnTo>
                  <a:pt x="6117119" y="6458858"/>
                </a:lnTo>
                <a:lnTo>
                  <a:pt x="0" y="645885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215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B9255A1-9530-4DF1-BBD4-43FA641167A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406745" y="0"/>
            <a:ext cx="5994401" cy="13716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6BD92C-923E-47DA-BA6A-482FBE8C75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039770" y="0"/>
            <a:ext cx="5994401" cy="13716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813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174B531-4361-423C-AB5D-99441DFEF7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344169" y="1582059"/>
            <a:ext cx="9736347" cy="10551884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4A9EA16-1108-489A-BB08-9763A8513F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582059"/>
            <a:ext cx="9736347" cy="10551884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250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78A8AF-39D9-4E7F-91F3-FE22651873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071686" y="3091161"/>
            <a:ext cx="6692146" cy="7533678"/>
          </a:xfrm>
          <a:custGeom>
            <a:avLst/>
            <a:gdLst>
              <a:gd name="connsiteX0" fmla="*/ 0 w 6692146"/>
              <a:gd name="connsiteY0" fmla="*/ 0 h 7533678"/>
              <a:gd name="connsiteX1" fmla="*/ 6692146 w 6692146"/>
              <a:gd name="connsiteY1" fmla="*/ 0 h 7533678"/>
              <a:gd name="connsiteX2" fmla="*/ 6692146 w 6692146"/>
              <a:gd name="connsiteY2" fmla="*/ 7533678 h 7533678"/>
              <a:gd name="connsiteX3" fmla="*/ 0 w 6692146"/>
              <a:gd name="connsiteY3" fmla="*/ 7533678 h 7533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2146" h="7533678">
                <a:moveTo>
                  <a:pt x="0" y="0"/>
                </a:moveTo>
                <a:lnTo>
                  <a:pt x="6692146" y="0"/>
                </a:lnTo>
                <a:lnTo>
                  <a:pt x="6692146" y="7533678"/>
                </a:lnTo>
                <a:lnTo>
                  <a:pt x="0" y="753367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92C87A2-1E86-486C-AA1D-EA3EEDEEA3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20168" y="3091161"/>
            <a:ext cx="6692146" cy="7533678"/>
          </a:xfrm>
          <a:custGeom>
            <a:avLst/>
            <a:gdLst>
              <a:gd name="connsiteX0" fmla="*/ 0 w 6692146"/>
              <a:gd name="connsiteY0" fmla="*/ 0 h 7533678"/>
              <a:gd name="connsiteX1" fmla="*/ 6692146 w 6692146"/>
              <a:gd name="connsiteY1" fmla="*/ 0 h 7533678"/>
              <a:gd name="connsiteX2" fmla="*/ 6692146 w 6692146"/>
              <a:gd name="connsiteY2" fmla="*/ 7533678 h 7533678"/>
              <a:gd name="connsiteX3" fmla="*/ 0 w 6692146"/>
              <a:gd name="connsiteY3" fmla="*/ 7533678 h 7533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2146" h="7533678">
                <a:moveTo>
                  <a:pt x="0" y="0"/>
                </a:moveTo>
                <a:lnTo>
                  <a:pt x="6692146" y="0"/>
                </a:lnTo>
                <a:lnTo>
                  <a:pt x="6692146" y="7533678"/>
                </a:lnTo>
                <a:lnTo>
                  <a:pt x="0" y="753367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reeform: Shape 7">
            <a:extLst>
              <a:ext uri="{FF2B5EF4-FFF2-40B4-BE49-F238E27FC236}">
                <a16:creationId xmlns:a16="http://schemas.microsoft.com/office/drawing/2014/main" id="{AB0412D6-6649-CE47-B4A6-48D7B9A1AE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845927" y="3091161"/>
            <a:ext cx="6692146" cy="7533678"/>
          </a:xfrm>
          <a:custGeom>
            <a:avLst/>
            <a:gdLst>
              <a:gd name="connsiteX0" fmla="*/ 0 w 6692146"/>
              <a:gd name="connsiteY0" fmla="*/ 0 h 7533678"/>
              <a:gd name="connsiteX1" fmla="*/ 6692146 w 6692146"/>
              <a:gd name="connsiteY1" fmla="*/ 0 h 7533678"/>
              <a:gd name="connsiteX2" fmla="*/ 6692146 w 6692146"/>
              <a:gd name="connsiteY2" fmla="*/ 7533678 h 7533678"/>
              <a:gd name="connsiteX3" fmla="*/ 0 w 6692146"/>
              <a:gd name="connsiteY3" fmla="*/ 7533678 h 7533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92146" h="7533678">
                <a:moveTo>
                  <a:pt x="0" y="0"/>
                </a:moveTo>
                <a:lnTo>
                  <a:pt x="6692146" y="0"/>
                </a:lnTo>
                <a:lnTo>
                  <a:pt x="6692146" y="7533678"/>
                </a:lnTo>
                <a:lnTo>
                  <a:pt x="0" y="753367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997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DA99F23-4C54-44DC-89FE-DBBEDDD641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2570" y="1973954"/>
            <a:ext cx="6792685" cy="9768093"/>
          </a:xfrm>
          <a:custGeom>
            <a:avLst/>
            <a:gdLst>
              <a:gd name="connsiteX0" fmla="*/ 0 w 6792685"/>
              <a:gd name="connsiteY0" fmla="*/ 0 h 9768093"/>
              <a:gd name="connsiteX1" fmla="*/ 6792685 w 6792685"/>
              <a:gd name="connsiteY1" fmla="*/ 0 h 9768093"/>
              <a:gd name="connsiteX2" fmla="*/ 6792685 w 6792685"/>
              <a:gd name="connsiteY2" fmla="*/ 9768093 h 9768093"/>
              <a:gd name="connsiteX3" fmla="*/ 0 w 6792685"/>
              <a:gd name="connsiteY3" fmla="*/ 9768093 h 9768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92685" h="9768093">
                <a:moveTo>
                  <a:pt x="0" y="0"/>
                </a:moveTo>
                <a:lnTo>
                  <a:pt x="6792685" y="0"/>
                </a:lnTo>
                <a:lnTo>
                  <a:pt x="6792685" y="9768093"/>
                </a:lnTo>
                <a:lnTo>
                  <a:pt x="0" y="976809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357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DEA6E15-2B55-40C2-93FA-9E8923078C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73038" y="6168581"/>
            <a:ext cx="6037926" cy="6062343"/>
          </a:xfrm>
          <a:custGeom>
            <a:avLst/>
            <a:gdLst>
              <a:gd name="connsiteX0" fmla="*/ 0 w 6037926"/>
              <a:gd name="connsiteY0" fmla="*/ 0 h 6062343"/>
              <a:gd name="connsiteX1" fmla="*/ 6037926 w 6037926"/>
              <a:gd name="connsiteY1" fmla="*/ 0 h 6062343"/>
              <a:gd name="connsiteX2" fmla="*/ 6037926 w 6037926"/>
              <a:gd name="connsiteY2" fmla="*/ 6062343 h 6062343"/>
              <a:gd name="connsiteX3" fmla="*/ 0 w 6037926"/>
              <a:gd name="connsiteY3" fmla="*/ 6062343 h 606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7926" h="6062343">
                <a:moveTo>
                  <a:pt x="0" y="0"/>
                </a:moveTo>
                <a:lnTo>
                  <a:pt x="6037926" y="0"/>
                </a:lnTo>
                <a:lnTo>
                  <a:pt x="6037926" y="6062343"/>
                </a:lnTo>
                <a:lnTo>
                  <a:pt x="0" y="606234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518574-6818-4A43-B551-CD8D3518D3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98067" y="6168581"/>
            <a:ext cx="6037926" cy="6062343"/>
          </a:xfrm>
          <a:custGeom>
            <a:avLst/>
            <a:gdLst>
              <a:gd name="connsiteX0" fmla="*/ 0 w 6037926"/>
              <a:gd name="connsiteY0" fmla="*/ 0 h 6062343"/>
              <a:gd name="connsiteX1" fmla="*/ 6037926 w 6037926"/>
              <a:gd name="connsiteY1" fmla="*/ 0 h 6062343"/>
              <a:gd name="connsiteX2" fmla="*/ 6037926 w 6037926"/>
              <a:gd name="connsiteY2" fmla="*/ 6062343 h 6062343"/>
              <a:gd name="connsiteX3" fmla="*/ 0 w 6037926"/>
              <a:gd name="connsiteY3" fmla="*/ 6062343 h 606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7926" h="6062343">
                <a:moveTo>
                  <a:pt x="0" y="0"/>
                </a:moveTo>
                <a:lnTo>
                  <a:pt x="6037926" y="0"/>
                </a:lnTo>
                <a:lnTo>
                  <a:pt x="6037926" y="6062343"/>
                </a:lnTo>
                <a:lnTo>
                  <a:pt x="0" y="606234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496E0FF-63F0-4636-B2AB-FFDF9B80630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748007" y="6168581"/>
            <a:ext cx="6037926" cy="6062343"/>
          </a:xfrm>
          <a:custGeom>
            <a:avLst/>
            <a:gdLst>
              <a:gd name="connsiteX0" fmla="*/ 0 w 6037926"/>
              <a:gd name="connsiteY0" fmla="*/ 0 h 6062343"/>
              <a:gd name="connsiteX1" fmla="*/ 6037926 w 6037926"/>
              <a:gd name="connsiteY1" fmla="*/ 0 h 6062343"/>
              <a:gd name="connsiteX2" fmla="*/ 6037926 w 6037926"/>
              <a:gd name="connsiteY2" fmla="*/ 6062343 h 6062343"/>
              <a:gd name="connsiteX3" fmla="*/ 0 w 6037926"/>
              <a:gd name="connsiteY3" fmla="*/ 6062343 h 606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37926" h="6062343">
                <a:moveTo>
                  <a:pt x="0" y="0"/>
                </a:moveTo>
                <a:lnTo>
                  <a:pt x="6037926" y="0"/>
                </a:lnTo>
                <a:lnTo>
                  <a:pt x="6037926" y="6062343"/>
                </a:lnTo>
                <a:lnTo>
                  <a:pt x="0" y="606234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463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92625BA-0ADE-43E0-9BC8-6AB77B4D5AF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0112" y="2256248"/>
            <a:ext cx="6883391" cy="9106519"/>
          </a:xfrm>
          <a:custGeom>
            <a:avLst/>
            <a:gdLst>
              <a:gd name="connsiteX0" fmla="*/ 0 w 6883391"/>
              <a:gd name="connsiteY0" fmla="*/ 0 h 9106519"/>
              <a:gd name="connsiteX1" fmla="*/ 6883391 w 6883391"/>
              <a:gd name="connsiteY1" fmla="*/ 0 h 9106519"/>
              <a:gd name="connsiteX2" fmla="*/ 6883391 w 6883391"/>
              <a:gd name="connsiteY2" fmla="*/ 9106519 h 9106519"/>
              <a:gd name="connsiteX3" fmla="*/ 0 w 6883391"/>
              <a:gd name="connsiteY3" fmla="*/ 9106519 h 9106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3391" h="9106519">
                <a:moveTo>
                  <a:pt x="0" y="0"/>
                </a:moveTo>
                <a:lnTo>
                  <a:pt x="6883391" y="0"/>
                </a:lnTo>
                <a:lnTo>
                  <a:pt x="6883391" y="9106519"/>
                </a:lnTo>
                <a:lnTo>
                  <a:pt x="0" y="910651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061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BFEEEC-FE4B-437A-8674-DC797FD8B33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897600" y="2590115"/>
            <a:ext cx="2699656" cy="2699657"/>
          </a:xfrm>
          <a:custGeom>
            <a:avLst/>
            <a:gdLst>
              <a:gd name="connsiteX0" fmla="*/ 0 w 2699656"/>
              <a:gd name="connsiteY0" fmla="*/ 0 h 2699657"/>
              <a:gd name="connsiteX1" fmla="*/ 2699656 w 2699656"/>
              <a:gd name="connsiteY1" fmla="*/ 0 h 2699657"/>
              <a:gd name="connsiteX2" fmla="*/ 2699656 w 2699656"/>
              <a:gd name="connsiteY2" fmla="*/ 2699657 h 2699657"/>
              <a:gd name="connsiteX3" fmla="*/ 0 w 2699656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6" h="2699657">
                <a:moveTo>
                  <a:pt x="0" y="0"/>
                </a:moveTo>
                <a:lnTo>
                  <a:pt x="2699656" y="0"/>
                </a:lnTo>
                <a:lnTo>
                  <a:pt x="2699656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E4EC79D-8904-4EC2-9F68-809E7F964B1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848115" y="2590115"/>
            <a:ext cx="2699656" cy="2699657"/>
          </a:xfrm>
          <a:custGeom>
            <a:avLst/>
            <a:gdLst>
              <a:gd name="connsiteX0" fmla="*/ 0 w 2699656"/>
              <a:gd name="connsiteY0" fmla="*/ 0 h 2699657"/>
              <a:gd name="connsiteX1" fmla="*/ 2699656 w 2699656"/>
              <a:gd name="connsiteY1" fmla="*/ 0 h 2699657"/>
              <a:gd name="connsiteX2" fmla="*/ 2699656 w 2699656"/>
              <a:gd name="connsiteY2" fmla="*/ 2699657 h 2699657"/>
              <a:gd name="connsiteX3" fmla="*/ 0 w 2699656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6" h="2699657">
                <a:moveTo>
                  <a:pt x="0" y="0"/>
                </a:moveTo>
                <a:lnTo>
                  <a:pt x="2699656" y="0"/>
                </a:lnTo>
                <a:lnTo>
                  <a:pt x="2699656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771B9A5-5B84-4938-B823-A4D003227CE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798627" y="2590115"/>
            <a:ext cx="2699656" cy="2699657"/>
          </a:xfrm>
          <a:custGeom>
            <a:avLst/>
            <a:gdLst>
              <a:gd name="connsiteX0" fmla="*/ 0 w 2699656"/>
              <a:gd name="connsiteY0" fmla="*/ 0 h 2699657"/>
              <a:gd name="connsiteX1" fmla="*/ 2699656 w 2699656"/>
              <a:gd name="connsiteY1" fmla="*/ 0 h 2699657"/>
              <a:gd name="connsiteX2" fmla="*/ 2699656 w 2699656"/>
              <a:gd name="connsiteY2" fmla="*/ 2699657 h 2699657"/>
              <a:gd name="connsiteX3" fmla="*/ 0 w 2699656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6" h="2699657">
                <a:moveTo>
                  <a:pt x="0" y="0"/>
                </a:moveTo>
                <a:lnTo>
                  <a:pt x="2699656" y="0"/>
                </a:lnTo>
                <a:lnTo>
                  <a:pt x="2699656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1E18C1A-2821-4FA4-99E0-9AB862EE02D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8897600" y="7412041"/>
            <a:ext cx="2699656" cy="2699657"/>
          </a:xfrm>
          <a:custGeom>
            <a:avLst/>
            <a:gdLst>
              <a:gd name="connsiteX0" fmla="*/ 0 w 2699656"/>
              <a:gd name="connsiteY0" fmla="*/ 0 h 2699657"/>
              <a:gd name="connsiteX1" fmla="*/ 2699656 w 2699656"/>
              <a:gd name="connsiteY1" fmla="*/ 0 h 2699657"/>
              <a:gd name="connsiteX2" fmla="*/ 2699656 w 2699656"/>
              <a:gd name="connsiteY2" fmla="*/ 2699657 h 2699657"/>
              <a:gd name="connsiteX3" fmla="*/ 0 w 2699656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6" h="2699657">
                <a:moveTo>
                  <a:pt x="0" y="0"/>
                </a:moveTo>
                <a:lnTo>
                  <a:pt x="2699656" y="0"/>
                </a:lnTo>
                <a:lnTo>
                  <a:pt x="2699656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8B68C2E-40EC-46AF-A198-B6089C78703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4848115" y="7412041"/>
            <a:ext cx="2699656" cy="2699657"/>
          </a:xfrm>
          <a:custGeom>
            <a:avLst/>
            <a:gdLst>
              <a:gd name="connsiteX0" fmla="*/ 0 w 2699656"/>
              <a:gd name="connsiteY0" fmla="*/ 0 h 2699657"/>
              <a:gd name="connsiteX1" fmla="*/ 2699656 w 2699656"/>
              <a:gd name="connsiteY1" fmla="*/ 0 h 2699657"/>
              <a:gd name="connsiteX2" fmla="*/ 2699656 w 2699656"/>
              <a:gd name="connsiteY2" fmla="*/ 2699657 h 2699657"/>
              <a:gd name="connsiteX3" fmla="*/ 0 w 2699656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6" h="2699657">
                <a:moveTo>
                  <a:pt x="0" y="0"/>
                </a:moveTo>
                <a:lnTo>
                  <a:pt x="2699656" y="0"/>
                </a:lnTo>
                <a:lnTo>
                  <a:pt x="2699656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7275F0B-4064-4285-ADD0-8CAD59BD338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98627" y="7412041"/>
            <a:ext cx="2699656" cy="2699657"/>
          </a:xfrm>
          <a:custGeom>
            <a:avLst/>
            <a:gdLst>
              <a:gd name="connsiteX0" fmla="*/ 0 w 2699656"/>
              <a:gd name="connsiteY0" fmla="*/ 0 h 2699657"/>
              <a:gd name="connsiteX1" fmla="*/ 2699656 w 2699656"/>
              <a:gd name="connsiteY1" fmla="*/ 0 h 2699657"/>
              <a:gd name="connsiteX2" fmla="*/ 2699656 w 2699656"/>
              <a:gd name="connsiteY2" fmla="*/ 2699657 h 2699657"/>
              <a:gd name="connsiteX3" fmla="*/ 0 w 2699656"/>
              <a:gd name="connsiteY3" fmla="*/ 2699657 h 2699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9656" h="2699657">
                <a:moveTo>
                  <a:pt x="0" y="0"/>
                </a:moveTo>
                <a:lnTo>
                  <a:pt x="2699656" y="0"/>
                </a:lnTo>
                <a:lnTo>
                  <a:pt x="2699656" y="2699657"/>
                </a:lnTo>
                <a:lnTo>
                  <a:pt x="0" y="2699657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4166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7D43C14-B5DC-4D9B-A793-90DD7D5472F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287042" y="4064389"/>
            <a:ext cx="8549532" cy="5372586"/>
          </a:xfrm>
          <a:custGeom>
            <a:avLst/>
            <a:gdLst>
              <a:gd name="connsiteX0" fmla="*/ 0 w 8549532"/>
              <a:gd name="connsiteY0" fmla="*/ 0 h 5372586"/>
              <a:gd name="connsiteX1" fmla="*/ 8549532 w 8549532"/>
              <a:gd name="connsiteY1" fmla="*/ 0 h 5372586"/>
              <a:gd name="connsiteX2" fmla="*/ 8549532 w 8549532"/>
              <a:gd name="connsiteY2" fmla="*/ 5372586 h 5372586"/>
              <a:gd name="connsiteX3" fmla="*/ 0 w 8549532"/>
              <a:gd name="connsiteY3" fmla="*/ 5372586 h 537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49532" h="5372586">
                <a:moveTo>
                  <a:pt x="0" y="0"/>
                </a:moveTo>
                <a:lnTo>
                  <a:pt x="8549532" y="0"/>
                </a:lnTo>
                <a:lnTo>
                  <a:pt x="8549532" y="5372586"/>
                </a:lnTo>
                <a:lnTo>
                  <a:pt x="0" y="537258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27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A93E504-F96A-45BC-B642-1C7C7F9D867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529650" y="3667738"/>
            <a:ext cx="8151470" cy="5133693"/>
          </a:xfrm>
          <a:custGeom>
            <a:avLst/>
            <a:gdLst>
              <a:gd name="connsiteX0" fmla="*/ 0 w 8151470"/>
              <a:gd name="connsiteY0" fmla="*/ 0 h 5133693"/>
              <a:gd name="connsiteX1" fmla="*/ 8151470 w 8151470"/>
              <a:gd name="connsiteY1" fmla="*/ 0 h 5133693"/>
              <a:gd name="connsiteX2" fmla="*/ 8151470 w 8151470"/>
              <a:gd name="connsiteY2" fmla="*/ 5133693 h 5133693"/>
              <a:gd name="connsiteX3" fmla="*/ 0 w 8151470"/>
              <a:gd name="connsiteY3" fmla="*/ 5133693 h 5133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51470" h="5133693">
                <a:moveTo>
                  <a:pt x="0" y="0"/>
                </a:moveTo>
                <a:lnTo>
                  <a:pt x="8151470" y="0"/>
                </a:lnTo>
                <a:lnTo>
                  <a:pt x="8151470" y="5133693"/>
                </a:lnTo>
                <a:lnTo>
                  <a:pt x="0" y="513369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76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B1D89F5-E095-4C79-8CC1-B460BCE01B2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738902" y="2887251"/>
            <a:ext cx="5931374" cy="7914034"/>
          </a:xfrm>
          <a:custGeom>
            <a:avLst/>
            <a:gdLst>
              <a:gd name="connsiteX0" fmla="*/ 0 w 5931374"/>
              <a:gd name="connsiteY0" fmla="*/ 0 h 7914034"/>
              <a:gd name="connsiteX1" fmla="*/ 5931374 w 5931374"/>
              <a:gd name="connsiteY1" fmla="*/ 0 h 7914034"/>
              <a:gd name="connsiteX2" fmla="*/ 5931374 w 5931374"/>
              <a:gd name="connsiteY2" fmla="*/ 7914034 h 7914034"/>
              <a:gd name="connsiteX3" fmla="*/ 0 w 5931374"/>
              <a:gd name="connsiteY3" fmla="*/ 7914034 h 791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374" h="7914034">
                <a:moveTo>
                  <a:pt x="0" y="0"/>
                </a:moveTo>
                <a:lnTo>
                  <a:pt x="5931374" y="0"/>
                </a:lnTo>
                <a:lnTo>
                  <a:pt x="5931374" y="7914034"/>
                </a:lnTo>
                <a:lnTo>
                  <a:pt x="0" y="791403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782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80AE6BC-E02E-4D3F-ABC9-ED1E96A50AB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10954" y="3503687"/>
            <a:ext cx="3866819" cy="6837732"/>
          </a:xfrm>
          <a:custGeom>
            <a:avLst/>
            <a:gdLst>
              <a:gd name="connsiteX0" fmla="*/ 0 w 3866819"/>
              <a:gd name="connsiteY0" fmla="*/ 0 h 6837732"/>
              <a:gd name="connsiteX1" fmla="*/ 3866819 w 3866819"/>
              <a:gd name="connsiteY1" fmla="*/ 0 h 6837732"/>
              <a:gd name="connsiteX2" fmla="*/ 3866819 w 3866819"/>
              <a:gd name="connsiteY2" fmla="*/ 6837732 h 6837732"/>
              <a:gd name="connsiteX3" fmla="*/ 0 w 3866819"/>
              <a:gd name="connsiteY3" fmla="*/ 6837732 h 6837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66819" h="6837732">
                <a:moveTo>
                  <a:pt x="0" y="0"/>
                </a:moveTo>
                <a:lnTo>
                  <a:pt x="3866819" y="0"/>
                </a:lnTo>
                <a:lnTo>
                  <a:pt x="3866819" y="6837732"/>
                </a:lnTo>
                <a:lnTo>
                  <a:pt x="0" y="683773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057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C3BE8C7-EE0E-8D43-B594-81C45A2155A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6792579" y="7667626"/>
            <a:ext cx="4359274" cy="446722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B78BD3-BB9C-604D-9C6A-14C96D9EB3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2363" y="1962151"/>
            <a:ext cx="4359274" cy="44310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64BAF14-D82E-444B-94F7-12242AAFD4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32149" y="7667626"/>
            <a:ext cx="4359274" cy="446722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0975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4F5EEF-2D5B-4244-B19B-BA12A08E45D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59731" y="3162301"/>
            <a:ext cx="4338493" cy="4338494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B02050CF-AC49-4148-BEEB-E69E39F3D1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372043" y="3162301"/>
            <a:ext cx="4338493" cy="4338494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454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EC5F0C-E504-344E-8045-4ACBF4304F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25273" y="3111500"/>
            <a:ext cx="3931920" cy="80581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D9A5565-39C7-7B43-BE3A-2071F0A58C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967542" y="3111500"/>
            <a:ext cx="3931920" cy="80581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2082A6F-0835-BF43-B10E-896CACA9B73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6209811" y="3111500"/>
            <a:ext cx="3931920" cy="80581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4757F92-9650-DC4E-860F-9D64EC3D8F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0452080" y="3111500"/>
            <a:ext cx="3931920" cy="80581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>
              <a:defRPr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8254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6">
            <a:extLst>
              <a:ext uri="{FF2B5EF4-FFF2-40B4-BE49-F238E27FC236}">
                <a16:creationId xmlns:a16="http://schemas.microsoft.com/office/drawing/2014/main" id="{5CD80713-3460-6C4D-98D3-7FCCBBC24F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736347" cy="13715999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9AA4A9DC-0123-D64E-A0F8-15D3CF3D50B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647652" y="0"/>
            <a:ext cx="9736347" cy="6858000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552E2F90-47E9-FC42-8E69-E94310D5A5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647653" y="7161223"/>
            <a:ext cx="9736347" cy="6554775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EDFD4300-02D7-E645-B586-E9467DDAC9F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12017" y="0"/>
            <a:ext cx="4359966" cy="43615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1E8C8C8-E625-FD4C-A950-F956AA3723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012017" y="4680542"/>
            <a:ext cx="4359966" cy="43615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733BFD54-8682-5D48-9508-77E5F493900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012017" y="9361084"/>
            <a:ext cx="4359966" cy="43615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2812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6">
            <a:extLst>
              <a:ext uri="{FF2B5EF4-FFF2-40B4-BE49-F238E27FC236}">
                <a16:creationId xmlns:a16="http://schemas.microsoft.com/office/drawing/2014/main" id="{97D7ACE9-7C11-B849-9D74-23E66819B3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582059"/>
            <a:ext cx="24384000" cy="10551884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3586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6">
            <a:extLst>
              <a:ext uri="{FF2B5EF4-FFF2-40B4-BE49-F238E27FC236}">
                <a16:creationId xmlns:a16="http://schemas.microsoft.com/office/drawing/2014/main" id="{52B82C27-3D44-3B49-9B36-BCBF9A6D0D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15548" y="1582059"/>
            <a:ext cx="20752904" cy="10551884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5739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6">
            <a:extLst>
              <a:ext uri="{FF2B5EF4-FFF2-40B4-BE49-F238E27FC236}">
                <a16:creationId xmlns:a16="http://schemas.microsoft.com/office/drawing/2014/main" id="{E99733F0-CF9F-BB49-8C75-B21C883FC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15549" y="1582059"/>
            <a:ext cx="12476922" cy="10551884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9F8FC8B8-1631-034B-88B7-D211670F13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647652" y="1582058"/>
            <a:ext cx="7918704" cy="5029200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729C53F6-628E-4845-B335-A6965D91859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647652" y="7104742"/>
            <a:ext cx="7920800" cy="5029200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1651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6">
            <a:extLst>
              <a:ext uri="{FF2B5EF4-FFF2-40B4-BE49-F238E27FC236}">
                <a16:creationId xmlns:a16="http://schemas.microsoft.com/office/drawing/2014/main" id="{E99733F0-CF9F-BB49-8C75-B21C883FC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12192000" cy="71047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9F8FC8B8-1631-034B-88B7-D211670F13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212782" y="0"/>
            <a:ext cx="12171219" cy="71047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D7230C67-AFF1-6E47-A30F-12A786FB46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104742"/>
            <a:ext cx="12192000" cy="71047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8079A9D-A4E3-3948-A92F-AD5FEFD3181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12782" y="7104742"/>
            <a:ext cx="12192000" cy="71047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9545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9">
            <a:extLst>
              <a:ext uri="{FF2B5EF4-FFF2-40B4-BE49-F238E27FC236}">
                <a16:creationId xmlns:a16="http://schemas.microsoft.com/office/drawing/2014/main" id="{DBE98E20-0F04-B845-A41C-4362BD583C9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32640" y="0"/>
            <a:ext cx="6035040" cy="13716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reeform: Shape 10">
            <a:extLst>
              <a:ext uri="{FF2B5EF4-FFF2-40B4-BE49-F238E27FC236}">
                <a16:creationId xmlns:a16="http://schemas.microsoft.com/office/drawing/2014/main" id="{A341B26E-1F15-5544-B304-55A66A1C821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48960" y="0"/>
            <a:ext cx="6035040" cy="13716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reeform: Shape 9">
            <a:extLst>
              <a:ext uri="{FF2B5EF4-FFF2-40B4-BE49-F238E27FC236}">
                <a16:creationId xmlns:a16="http://schemas.microsoft.com/office/drawing/2014/main" id="{550D4E5E-27B3-4E4E-8F57-4E93E5F731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16320" y="0"/>
            <a:ext cx="6035040" cy="13716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E2DD7A6D-7256-834D-BC45-DCC82265804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35040" cy="13716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9292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9">
            <a:extLst>
              <a:ext uri="{FF2B5EF4-FFF2-40B4-BE49-F238E27FC236}">
                <a16:creationId xmlns:a16="http://schemas.microsoft.com/office/drawing/2014/main" id="{A7CC03C0-2601-CC4B-AA03-F6323D0101F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232640" y="0"/>
            <a:ext cx="6035040" cy="6858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reeform: Shape 10">
            <a:extLst>
              <a:ext uri="{FF2B5EF4-FFF2-40B4-BE49-F238E27FC236}">
                <a16:creationId xmlns:a16="http://schemas.microsoft.com/office/drawing/2014/main" id="{2792A1FC-53AF-DF4D-8285-C38AAF68EF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48960" y="0"/>
            <a:ext cx="6035040" cy="6858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reeform: Shape 9">
            <a:extLst>
              <a:ext uri="{FF2B5EF4-FFF2-40B4-BE49-F238E27FC236}">
                <a16:creationId xmlns:a16="http://schemas.microsoft.com/office/drawing/2014/main" id="{7F4F7AD2-E92E-1C48-8999-317C134AD6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16320" y="0"/>
            <a:ext cx="6035040" cy="6858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reeform: Shape 9">
            <a:extLst>
              <a:ext uri="{FF2B5EF4-FFF2-40B4-BE49-F238E27FC236}">
                <a16:creationId xmlns:a16="http://schemas.microsoft.com/office/drawing/2014/main" id="{EEB45581-D52A-8F4E-8591-FCBE3BE75F7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35040" cy="6858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: Shape 9">
            <a:extLst>
              <a:ext uri="{FF2B5EF4-FFF2-40B4-BE49-F238E27FC236}">
                <a16:creationId xmlns:a16="http://schemas.microsoft.com/office/drawing/2014/main" id="{854F882D-930B-8248-B12D-AD96C39ED8B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232640" y="6937513"/>
            <a:ext cx="6035040" cy="6858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Freeform: Shape 10">
            <a:extLst>
              <a:ext uri="{FF2B5EF4-FFF2-40B4-BE49-F238E27FC236}">
                <a16:creationId xmlns:a16="http://schemas.microsoft.com/office/drawing/2014/main" id="{ADA1B1D2-7EDD-0F43-9E15-D7A5EDEC5D2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8348960" y="6937513"/>
            <a:ext cx="6035040" cy="6858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Freeform: Shape 9">
            <a:extLst>
              <a:ext uri="{FF2B5EF4-FFF2-40B4-BE49-F238E27FC236}">
                <a16:creationId xmlns:a16="http://schemas.microsoft.com/office/drawing/2014/main" id="{E130D6E8-46BA-2141-940F-9D5A8EB30BD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16320" y="6937513"/>
            <a:ext cx="6035040" cy="6858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Freeform: Shape 9">
            <a:extLst>
              <a:ext uri="{FF2B5EF4-FFF2-40B4-BE49-F238E27FC236}">
                <a16:creationId xmlns:a16="http://schemas.microsoft.com/office/drawing/2014/main" id="{8B1DE6DE-2B07-A549-B080-1CEEF212B3E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6937513"/>
            <a:ext cx="6035040" cy="6858000"/>
          </a:xfrm>
          <a:custGeom>
            <a:avLst/>
            <a:gdLst>
              <a:gd name="connsiteX0" fmla="*/ 0 w 5994401"/>
              <a:gd name="connsiteY0" fmla="*/ 0 h 13716000"/>
              <a:gd name="connsiteX1" fmla="*/ 5994401 w 5994401"/>
              <a:gd name="connsiteY1" fmla="*/ 0 h 13716000"/>
              <a:gd name="connsiteX2" fmla="*/ 5994401 w 5994401"/>
              <a:gd name="connsiteY2" fmla="*/ 13716000 h 13716000"/>
              <a:gd name="connsiteX3" fmla="*/ 0 w 5994401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94401" h="13716000">
                <a:moveTo>
                  <a:pt x="0" y="0"/>
                </a:moveTo>
                <a:lnTo>
                  <a:pt x="5994401" y="0"/>
                </a:lnTo>
                <a:lnTo>
                  <a:pt x="599440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5093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7597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950958-EFAD-A645-AC2C-68C74F40E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3" y="894102"/>
            <a:ext cx="5046662" cy="6002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C3647D-5393-4B4F-AC04-2097FAD604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6363" y="894102"/>
            <a:ext cx="5046662" cy="60026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6CF23E5-0071-0302-16C0-3B08B84C07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2201" y="4256710"/>
            <a:ext cx="21031200" cy="3079706"/>
          </a:xfrm>
          <a:prstGeom prst="rect">
            <a:avLst/>
          </a:prstGeom>
        </p:spPr>
        <p:txBody>
          <a:bodyPr/>
          <a:lstStyle>
            <a:lvl1pPr marL="0" marR="0" indent="0" algn="l" defTabSz="18288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9600" b="1" i="0" kern="800" cap="all" normalizeH="0" baseline="0" dirty="0">
                <a:solidFill>
                  <a:schemeClr val="tx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8800" dirty="0">
                <a:solidFill>
                  <a:schemeClr val="tx1"/>
                </a:solidFill>
              </a:rPr>
              <a:t>Insert your</a:t>
            </a:r>
            <a:br>
              <a:rPr lang="en-US" sz="8800" dirty="0">
                <a:solidFill>
                  <a:schemeClr val="tx1"/>
                </a:solidFill>
              </a:rPr>
            </a:br>
            <a:r>
              <a:rPr lang="en-US" sz="8800" dirty="0">
                <a:solidFill>
                  <a:schemeClr val="tx1"/>
                </a:solidFill>
              </a:rPr>
              <a:t>TITLE here</a:t>
            </a:r>
            <a:br>
              <a:rPr lang="en-US" sz="8800" dirty="0">
                <a:solidFill>
                  <a:schemeClr val="tx1"/>
                </a:solidFill>
              </a:rPr>
            </a:br>
            <a:r>
              <a:rPr lang="en-US" sz="8800" dirty="0">
                <a:solidFill>
                  <a:schemeClr val="tx1"/>
                </a:solidFill>
              </a:rPr>
              <a:t>up to 3 lines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EF29516-FCDE-67EC-D588-9D0E677C52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2201" y="9292409"/>
            <a:ext cx="18100675" cy="22899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077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1B54AA-0824-2C4D-AE2C-E4CC6DBF6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3" y="911036"/>
            <a:ext cx="5046662" cy="60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246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 txBox="1">
            <a:spLocks/>
          </p:cNvSpPr>
          <p:nvPr/>
        </p:nvSpPr>
        <p:spPr>
          <a:xfrm>
            <a:off x="22772539" y="471223"/>
            <a:ext cx="1295506" cy="656590"/>
          </a:xfrm>
          <a:prstGeom prst="rect">
            <a:avLst/>
          </a:prstGeom>
        </p:spPr>
        <p:txBody>
          <a:bodyPr vert="horz" wrap="none" lIns="243840" tIns="121920" rIns="243840" bIns="1219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400" b="0" i="0" smtClean="0">
                <a:solidFill>
                  <a:schemeClr val="tx1"/>
                </a:solidFill>
                <a:latin typeface="Arial" panose="020B0604020202020204" pitchFamily="34" charset="0"/>
                <a:ea typeface="Source Sans Pro" charset="0"/>
                <a:cs typeface="Arial" panose="020B0604020202020204" pitchFamily="34" charset="0"/>
              </a:rPr>
              <a:pPr algn="ctr"/>
              <a:t>‹#›</a:t>
            </a:fld>
            <a:endParaRPr lang="en-US" sz="2400" b="0" i="0" dirty="0">
              <a:solidFill>
                <a:schemeClr val="tx1"/>
              </a:solidFill>
              <a:latin typeface="Arial" panose="020B0604020202020204" pitchFamily="34" charset="0"/>
              <a:ea typeface="Source Sans Pro" charset="0"/>
              <a:cs typeface="Arial" panose="020B0604020202020204" pitchFamily="34" charset="0"/>
            </a:endParaRPr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17174817" y="4"/>
            <a:ext cx="7209182" cy="6857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9965633" y="4"/>
            <a:ext cx="7209182" cy="6857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17174817" y="6858000"/>
            <a:ext cx="7209182" cy="6857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9965633" y="6858000"/>
            <a:ext cx="7209182" cy="6857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702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 txBox="1">
            <a:spLocks/>
          </p:cNvSpPr>
          <p:nvPr/>
        </p:nvSpPr>
        <p:spPr>
          <a:xfrm>
            <a:off x="22772539" y="471223"/>
            <a:ext cx="1295506" cy="656590"/>
          </a:xfrm>
          <a:prstGeom prst="rect">
            <a:avLst/>
          </a:prstGeom>
        </p:spPr>
        <p:txBody>
          <a:bodyPr vert="horz" wrap="none" lIns="243840" tIns="121920" rIns="243840" bIns="1219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400" b="0" i="0" smtClean="0">
                <a:solidFill>
                  <a:schemeClr val="tx1"/>
                </a:solidFill>
                <a:latin typeface="Arial" panose="020B0604020202020204" pitchFamily="34" charset="0"/>
                <a:ea typeface="Source Sans Pro" charset="0"/>
                <a:cs typeface="Arial" panose="020B0604020202020204" pitchFamily="34" charset="0"/>
              </a:rPr>
              <a:pPr algn="ctr"/>
              <a:t>‹#›</a:t>
            </a:fld>
            <a:endParaRPr lang="en-US" sz="2400" b="0" i="0" dirty="0">
              <a:solidFill>
                <a:schemeClr val="tx1"/>
              </a:solidFill>
              <a:latin typeface="Arial" panose="020B0604020202020204" pitchFamily="34" charset="0"/>
              <a:ea typeface="Source Sans Pro" charset="0"/>
              <a:cs typeface="Arial" panose="020B0604020202020204" pitchFamily="34" charset="0"/>
            </a:endParaRPr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17174817" y="3"/>
            <a:ext cx="7209182" cy="13715998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9965633" y="3"/>
            <a:ext cx="7209182" cy="13715998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5598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 txBox="1">
            <a:spLocks/>
          </p:cNvSpPr>
          <p:nvPr/>
        </p:nvSpPr>
        <p:spPr>
          <a:xfrm>
            <a:off x="22772539" y="471223"/>
            <a:ext cx="1295506" cy="656590"/>
          </a:xfrm>
          <a:prstGeom prst="rect">
            <a:avLst/>
          </a:prstGeom>
        </p:spPr>
        <p:txBody>
          <a:bodyPr vert="horz" wrap="none" lIns="243840" tIns="121920" rIns="243840" bIns="1219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400" b="0" i="0" smtClean="0">
                <a:solidFill>
                  <a:schemeClr val="tx1"/>
                </a:solidFill>
                <a:latin typeface="Arial" panose="020B0604020202020204" pitchFamily="34" charset="0"/>
                <a:ea typeface="Source Sans Pro" charset="0"/>
                <a:cs typeface="Arial" panose="020B0604020202020204" pitchFamily="34" charset="0"/>
              </a:rPr>
              <a:pPr algn="ctr"/>
              <a:t>‹#›</a:t>
            </a:fld>
            <a:endParaRPr lang="en-US" sz="2400" b="0" i="0" dirty="0">
              <a:solidFill>
                <a:schemeClr val="tx1"/>
              </a:solidFill>
              <a:latin typeface="Arial" panose="020B0604020202020204" pitchFamily="34" charset="0"/>
              <a:ea typeface="Source Sans Pro" charset="0"/>
              <a:cs typeface="Arial" panose="020B0604020202020204" pitchFamily="34" charset="0"/>
            </a:endParaRPr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17174817" y="4"/>
            <a:ext cx="7209182" cy="4571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9965633" y="4"/>
            <a:ext cx="7209182" cy="4571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17174817" y="4572002"/>
            <a:ext cx="7209182" cy="4571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9965633" y="4572002"/>
            <a:ext cx="7209182" cy="4571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17174817" y="9144004"/>
            <a:ext cx="7209182" cy="4571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12"/>
          <p:cNvSpPr>
            <a:spLocks noGrp="1"/>
          </p:cNvSpPr>
          <p:nvPr>
            <p:ph type="pic" sz="quarter" idx="18"/>
          </p:nvPr>
        </p:nvSpPr>
        <p:spPr>
          <a:xfrm>
            <a:off x="9965633" y="9144004"/>
            <a:ext cx="7209182" cy="457199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133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 txBox="1">
            <a:spLocks/>
          </p:cNvSpPr>
          <p:nvPr/>
        </p:nvSpPr>
        <p:spPr>
          <a:xfrm>
            <a:off x="22772539" y="471223"/>
            <a:ext cx="1295506" cy="656590"/>
          </a:xfrm>
          <a:prstGeom prst="rect">
            <a:avLst/>
          </a:prstGeom>
        </p:spPr>
        <p:txBody>
          <a:bodyPr vert="horz" wrap="none" lIns="243840" tIns="121920" rIns="243840" bIns="1219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2400" b="0" i="0" smtClean="0">
                <a:solidFill>
                  <a:schemeClr val="tx1"/>
                </a:solidFill>
                <a:latin typeface="Arial" panose="020B0604020202020204" pitchFamily="34" charset="0"/>
                <a:ea typeface="Source Sans Pro" charset="0"/>
                <a:cs typeface="Arial" panose="020B0604020202020204" pitchFamily="34" charset="0"/>
              </a:rPr>
              <a:pPr algn="ctr"/>
              <a:t>‹#›</a:t>
            </a:fld>
            <a:endParaRPr lang="en-US" sz="2400" b="0" i="0" dirty="0">
              <a:solidFill>
                <a:schemeClr val="tx1"/>
              </a:solidFill>
              <a:latin typeface="Arial" panose="020B0604020202020204" pitchFamily="34" charset="0"/>
              <a:ea typeface="Source Sans Pro" charset="0"/>
              <a:cs typeface="Arial" panose="020B0604020202020204" pitchFamily="34" charset="0"/>
            </a:endParaRPr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17174817" y="3"/>
            <a:ext cx="7209182" cy="13715998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1" y="3"/>
            <a:ext cx="7209182" cy="13715998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3860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439475" y="1371602"/>
            <a:ext cx="16035134" cy="8567528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047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4030248" y="2513022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8642004" y="2513022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13253760" y="2513022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17865516" y="2513022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4030248" y="7760884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642004" y="7760884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22"/>
          </p:nvPr>
        </p:nvSpPr>
        <p:spPr>
          <a:xfrm>
            <a:off x="13253760" y="7760884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17865516" y="7760884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1468EA-75A5-AE46-91ED-32B208CB3F07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spc="600" dirty="0">
                <a:solidFill>
                  <a:schemeClr val="tx2"/>
                </a:solidFill>
                <a:latin typeface="Arial Black" panose="020B0604020202020204" pitchFamily="34" charset="0"/>
                <a:ea typeface="Roboto Slab" pitchFamily="2" charset="0"/>
                <a:cs typeface="Arial Black" panose="020B0604020202020204" pitchFamily="34" charset="0"/>
              </a:rPr>
              <a:t>TEXAS</a:t>
            </a:r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 ENGINEERING</a:t>
            </a:r>
          </a:p>
        </p:txBody>
      </p:sp>
    </p:spTree>
    <p:extLst>
      <p:ext uri="{BB962C8B-B14F-4D97-AF65-F5344CB8AC3E}">
        <p14:creationId xmlns:p14="http://schemas.microsoft.com/office/powerpoint/2010/main" val="34689542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984626" y="3054218"/>
            <a:ext cx="5277204" cy="527720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0265342" y="3054218"/>
            <a:ext cx="5277204" cy="527720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16546056" y="3054218"/>
            <a:ext cx="5277204" cy="527720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3050A-621F-A240-8860-03169693DE06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spc="600" dirty="0">
                <a:solidFill>
                  <a:schemeClr val="tx2"/>
                </a:solidFill>
                <a:latin typeface="Arial Black" panose="020B0604020202020204" pitchFamily="34" charset="0"/>
                <a:ea typeface="Roboto Slab" pitchFamily="2" charset="0"/>
                <a:cs typeface="Arial Black" panose="020B0604020202020204" pitchFamily="34" charset="0"/>
              </a:rPr>
              <a:t>TEXAS</a:t>
            </a:r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 ENGINEERING</a:t>
            </a:r>
          </a:p>
        </p:txBody>
      </p:sp>
    </p:spTree>
    <p:extLst>
      <p:ext uri="{BB962C8B-B14F-4D97-AF65-F5344CB8AC3E}">
        <p14:creationId xmlns:p14="http://schemas.microsoft.com/office/powerpoint/2010/main" val="20995691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24383999" cy="68580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82448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4"/>
          <p:cNvSpPr>
            <a:spLocks noGrp="1"/>
          </p:cNvSpPr>
          <p:nvPr>
            <p:ph type="pic" sz="quarter" idx="15"/>
          </p:nvPr>
        </p:nvSpPr>
        <p:spPr>
          <a:xfrm>
            <a:off x="11089238" y="6633394"/>
            <a:ext cx="4229492" cy="743857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38100" dist="152400" dir="8100000" algn="tr" rotWithShape="0">
              <a:prstClr val="black">
                <a:alpha val="10000"/>
              </a:prstClr>
            </a:outerShdw>
          </a:effectLst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4"/>
          <p:cNvSpPr>
            <a:spLocks noGrp="1"/>
          </p:cNvSpPr>
          <p:nvPr>
            <p:ph type="pic" sz="quarter" idx="16"/>
          </p:nvPr>
        </p:nvSpPr>
        <p:spPr>
          <a:xfrm>
            <a:off x="14391238" y="4626422"/>
            <a:ext cx="4229492" cy="743857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38100" dist="152400" dir="8100000" algn="tr" rotWithShape="0">
              <a:prstClr val="black">
                <a:alpha val="10000"/>
              </a:prstClr>
            </a:outerShdw>
          </a:effectLst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17667838" y="2721050"/>
            <a:ext cx="4229492" cy="743857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38100" dist="152400" dir="8100000" algn="tr" rotWithShape="0">
              <a:prstClr val="black">
                <a:alpha val="10000"/>
              </a:prstClr>
            </a:outerShdw>
          </a:effectLst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8"/>
          </p:nvPr>
        </p:nvSpPr>
        <p:spPr>
          <a:xfrm>
            <a:off x="20947680" y="810230"/>
            <a:ext cx="4229492" cy="743857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38100" dist="152400" dir="8100000" algn="tr" rotWithShape="0">
              <a:prstClr val="black">
                <a:alpha val="10000"/>
              </a:prstClr>
            </a:outerShdw>
          </a:effectLst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19919890" y="7820630"/>
            <a:ext cx="4229492" cy="743857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38100" dist="152400" dir="8100000" algn="tr" rotWithShape="0">
              <a:prstClr val="black">
                <a:alpha val="10000"/>
              </a:prstClr>
            </a:outerShdw>
          </a:effectLst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sz="quarter" idx="20"/>
          </p:nvPr>
        </p:nvSpPr>
        <p:spPr>
          <a:xfrm>
            <a:off x="12113786" y="-486044"/>
            <a:ext cx="4229492" cy="743857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38100" dist="152400" dir="8100000" algn="tr" rotWithShape="0">
              <a:prstClr val="black">
                <a:alpha val="10000"/>
              </a:prstClr>
            </a:outerShdw>
          </a:effectLst>
          <a:scene3d>
            <a:camera prst="isometricTopUp"/>
            <a:lightRig rig="threePt" dir="t"/>
          </a:scene3d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126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15160387" y="415616"/>
            <a:ext cx="5833192" cy="5833192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6016980" y="8173482"/>
            <a:ext cx="4976599" cy="4976599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18354978" y="3054218"/>
            <a:ext cx="7580652" cy="7580652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1848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0164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B042981-BDBC-43CE-A47D-094C74F996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60968" y="1951390"/>
            <a:ext cx="9782777" cy="10205413"/>
          </a:xfrm>
          <a:custGeom>
            <a:avLst/>
            <a:gdLst>
              <a:gd name="connsiteX0" fmla="*/ 0 w 12990286"/>
              <a:gd name="connsiteY0" fmla="*/ 0 h 13716000"/>
              <a:gd name="connsiteX1" fmla="*/ 12990286 w 12990286"/>
              <a:gd name="connsiteY1" fmla="*/ 0 h 13716000"/>
              <a:gd name="connsiteX2" fmla="*/ 12990286 w 12990286"/>
              <a:gd name="connsiteY2" fmla="*/ 13716000 h 13716000"/>
              <a:gd name="connsiteX3" fmla="*/ 0 w 1299028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90286" h="13716000">
                <a:moveTo>
                  <a:pt x="0" y="0"/>
                </a:moveTo>
                <a:lnTo>
                  <a:pt x="12990286" y="0"/>
                </a:lnTo>
                <a:lnTo>
                  <a:pt x="12990286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32355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B042981-BDBC-43CE-A47D-094C74F996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60968" y="6400800"/>
            <a:ext cx="9782777" cy="5756003"/>
          </a:xfrm>
          <a:custGeom>
            <a:avLst/>
            <a:gdLst>
              <a:gd name="connsiteX0" fmla="*/ 0 w 12990286"/>
              <a:gd name="connsiteY0" fmla="*/ 0 h 13716000"/>
              <a:gd name="connsiteX1" fmla="*/ 12990286 w 12990286"/>
              <a:gd name="connsiteY1" fmla="*/ 0 h 13716000"/>
              <a:gd name="connsiteX2" fmla="*/ 12990286 w 12990286"/>
              <a:gd name="connsiteY2" fmla="*/ 13716000 h 13716000"/>
              <a:gd name="connsiteX3" fmla="*/ 0 w 1299028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90286" h="13716000">
                <a:moveTo>
                  <a:pt x="0" y="0"/>
                </a:moveTo>
                <a:lnTo>
                  <a:pt x="12990286" y="0"/>
                </a:lnTo>
                <a:lnTo>
                  <a:pt x="12990286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A3428B-BAAF-D24A-813C-EFE1B7B049E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12888" y="6405189"/>
            <a:ext cx="9782777" cy="575188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9137559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70D143-7B80-C34A-B2D1-C71DA302D67F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spc="600" dirty="0">
                <a:solidFill>
                  <a:schemeClr val="tx2"/>
                </a:solidFill>
                <a:latin typeface="Arial Black" panose="020B0604020202020204" pitchFamily="34" charset="0"/>
                <a:ea typeface="Roboto Slab" pitchFamily="2" charset="0"/>
                <a:cs typeface="Arial Black" panose="020B0604020202020204" pitchFamily="34" charset="0"/>
              </a:rPr>
              <a:t>TEXAS</a:t>
            </a:r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 ENGINEERING</a:t>
            </a:r>
          </a:p>
        </p:txBody>
      </p:sp>
    </p:spTree>
    <p:extLst>
      <p:ext uri="{BB962C8B-B14F-4D97-AF65-F5344CB8AC3E}">
        <p14:creationId xmlns:p14="http://schemas.microsoft.com/office/powerpoint/2010/main" val="361657454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01 Full Pa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72113C65-304B-4938-9720-CF75A6A3DAE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4384000" cy="13716000"/>
          </a:xfrm>
          <a:custGeom>
            <a:avLst/>
            <a:gdLst>
              <a:gd name="connsiteX0" fmla="*/ 0 w 8656549"/>
              <a:gd name="connsiteY0" fmla="*/ 0 h 11995481"/>
              <a:gd name="connsiteX1" fmla="*/ 8656549 w 8656549"/>
              <a:gd name="connsiteY1" fmla="*/ 0 h 11995481"/>
              <a:gd name="connsiteX2" fmla="*/ 8656549 w 8656549"/>
              <a:gd name="connsiteY2" fmla="*/ 11995481 h 11995481"/>
              <a:gd name="connsiteX3" fmla="*/ 0 w 8656549"/>
              <a:gd name="connsiteY3" fmla="*/ 11995481 h 11995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56549" h="11995481">
                <a:moveTo>
                  <a:pt x="0" y="0"/>
                </a:moveTo>
                <a:lnTo>
                  <a:pt x="8656549" y="0"/>
                </a:lnTo>
                <a:lnTo>
                  <a:pt x="8656549" y="11995481"/>
                </a:lnTo>
                <a:lnTo>
                  <a:pt x="0" y="11995481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28770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1C458EC-46C9-44B1-A20D-600B32CDE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509561" y="1582057"/>
            <a:ext cx="8348871" cy="10551886"/>
          </a:xfrm>
          <a:custGeom>
            <a:avLst/>
            <a:gdLst>
              <a:gd name="connsiteX0" fmla="*/ 0 w 8348871"/>
              <a:gd name="connsiteY0" fmla="*/ 0 h 10551886"/>
              <a:gd name="connsiteX1" fmla="*/ 8348871 w 8348871"/>
              <a:gd name="connsiteY1" fmla="*/ 0 h 10551886"/>
              <a:gd name="connsiteX2" fmla="*/ 8348871 w 8348871"/>
              <a:gd name="connsiteY2" fmla="*/ 10551886 h 10551886"/>
              <a:gd name="connsiteX3" fmla="*/ 0 w 8348871"/>
              <a:gd name="connsiteY3" fmla="*/ 10551886 h 10551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48871" h="10551886">
                <a:moveTo>
                  <a:pt x="0" y="0"/>
                </a:moveTo>
                <a:lnTo>
                  <a:pt x="8348871" y="0"/>
                </a:lnTo>
                <a:lnTo>
                  <a:pt x="8348871" y="10551886"/>
                </a:lnTo>
                <a:lnTo>
                  <a:pt x="0" y="10551886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911BF0-FB24-5F40-A2A1-267413685719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spc="600" dirty="0">
                <a:solidFill>
                  <a:schemeClr val="tx2"/>
                </a:solidFill>
                <a:latin typeface="Arial Black" panose="020B0604020202020204" pitchFamily="34" charset="0"/>
                <a:ea typeface="Roboto Slab" pitchFamily="2" charset="0"/>
                <a:cs typeface="Arial Black" panose="020B0604020202020204" pitchFamily="34" charset="0"/>
              </a:rPr>
              <a:t>TEXAS</a:t>
            </a:r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 ENGINEERING</a:t>
            </a:r>
          </a:p>
        </p:txBody>
      </p:sp>
    </p:spTree>
    <p:extLst>
      <p:ext uri="{BB962C8B-B14F-4D97-AF65-F5344CB8AC3E}">
        <p14:creationId xmlns:p14="http://schemas.microsoft.com/office/powerpoint/2010/main" val="15768011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10EFCCB-15F6-4FD6-AFD9-D2EEF0EE3C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486744" y="2"/>
            <a:ext cx="8897256" cy="13715999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B8B2C8-1045-634B-AD89-60BCABADEF0D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spc="600" dirty="0">
                <a:solidFill>
                  <a:schemeClr val="tx2"/>
                </a:solidFill>
                <a:latin typeface="Arial Black" panose="020B0604020202020204" pitchFamily="34" charset="0"/>
                <a:ea typeface="Roboto Slab" pitchFamily="2" charset="0"/>
                <a:cs typeface="Arial Black" panose="020B0604020202020204" pitchFamily="34" charset="0"/>
              </a:rPr>
              <a:t>TEXAS</a:t>
            </a:r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 ENGINEERING</a:t>
            </a:r>
          </a:p>
        </p:txBody>
      </p:sp>
    </p:spTree>
    <p:extLst>
      <p:ext uri="{BB962C8B-B14F-4D97-AF65-F5344CB8AC3E}">
        <p14:creationId xmlns:p14="http://schemas.microsoft.com/office/powerpoint/2010/main" val="302775029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5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10EFCCB-15F6-4FD6-AFD9-D2EEF0EE3C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486744" y="9541567"/>
            <a:ext cx="8897256" cy="4174434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6" name="Freeform: Shape 4">
            <a:extLst>
              <a:ext uri="{FF2B5EF4-FFF2-40B4-BE49-F238E27FC236}">
                <a16:creationId xmlns:a16="http://schemas.microsoft.com/office/drawing/2014/main" id="{8111D5B9-F686-8B42-830F-41BE0A5886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5486744" y="0"/>
            <a:ext cx="4451152" cy="5267739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7871AEE-7C0B-4342-BDBE-1758B9CEA1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484220" y="5426764"/>
            <a:ext cx="4451152" cy="3995531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9" name="Freeform: Shape 4">
            <a:extLst>
              <a:ext uri="{FF2B5EF4-FFF2-40B4-BE49-F238E27FC236}">
                <a16:creationId xmlns:a16="http://schemas.microsoft.com/office/drawing/2014/main" id="{65BFDE83-150B-F940-ADEE-5193AA5AEF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056220" y="0"/>
            <a:ext cx="4327780" cy="3995531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10" name="Freeform: Shape 4">
            <a:extLst>
              <a:ext uri="{FF2B5EF4-FFF2-40B4-BE49-F238E27FC236}">
                <a16:creationId xmlns:a16="http://schemas.microsoft.com/office/drawing/2014/main" id="{1D54248C-1DD1-FB48-B7A9-E66EC682C9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058744" y="4154556"/>
            <a:ext cx="4325256" cy="5267739"/>
          </a:xfrm>
          <a:custGeom>
            <a:avLst/>
            <a:gdLst>
              <a:gd name="connsiteX0" fmla="*/ 0 w 8897256"/>
              <a:gd name="connsiteY0" fmla="*/ 0 h 13715999"/>
              <a:gd name="connsiteX1" fmla="*/ 8897256 w 8897256"/>
              <a:gd name="connsiteY1" fmla="*/ 0 h 13715999"/>
              <a:gd name="connsiteX2" fmla="*/ 8897256 w 8897256"/>
              <a:gd name="connsiteY2" fmla="*/ 13715999 h 13715999"/>
              <a:gd name="connsiteX3" fmla="*/ 0 w 8897256"/>
              <a:gd name="connsiteY3" fmla="*/ 13715999 h 13715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7256" h="13715999">
                <a:moveTo>
                  <a:pt x="0" y="0"/>
                </a:moveTo>
                <a:lnTo>
                  <a:pt x="8897256" y="0"/>
                </a:lnTo>
                <a:lnTo>
                  <a:pt x="8897256" y="13715999"/>
                </a:lnTo>
                <a:lnTo>
                  <a:pt x="0" y="1371599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>
              <a:defRPr lang="en-US" sz="2800" b="1" i="0" dirty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1675C5-0D69-7D4A-ADE8-4B85B99E1638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spc="600" dirty="0">
                <a:solidFill>
                  <a:schemeClr val="tx2"/>
                </a:solidFill>
                <a:latin typeface="Arial Black" panose="020B0604020202020204" pitchFamily="34" charset="0"/>
                <a:ea typeface="Roboto Slab" pitchFamily="2" charset="0"/>
                <a:cs typeface="Arial Black" panose="020B0604020202020204" pitchFamily="34" charset="0"/>
              </a:rPr>
              <a:t>TEXAS</a:t>
            </a:r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 ENGINEERING</a:t>
            </a:r>
          </a:p>
        </p:txBody>
      </p:sp>
    </p:spTree>
    <p:extLst>
      <p:ext uri="{BB962C8B-B14F-4D97-AF65-F5344CB8AC3E}">
        <p14:creationId xmlns:p14="http://schemas.microsoft.com/office/powerpoint/2010/main" val="365081583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6">
            <a:extLst>
              <a:ext uri="{FF2B5EF4-FFF2-40B4-BE49-F238E27FC236}">
                <a16:creationId xmlns:a16="http://schemas.microsoft.com/office/drawing/2014/main" id="{5CD80713-3460-6C4D-98D3-7FCCBBC24F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736347" cy="13715999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9AA4A9DC-0123-D64E-A0F8-15D3CF3D50B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647652" y="0"/>
            <a:ext cx="9736347" cy="6858000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reeform: Shape 6">
            <a:extLst>
              <a:ext uri="{FF2B5EF4-FFF2-40B4-BE49-F238E27FC236}">
                <a16:creationId xmlns:a16="http://schemas.microsoft.com/office/drawing/2014/main" id="{552E2F90-47E9-FC42-8E69-E94310D5A5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4647653" y="7161223"/>
            <a:ext cx="9736347" cy="6554775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EDFD4300-02D7-E645-B586-E9467DDAC9F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12017" y="0"/>
            <a:ext cx="4359966" cy="43615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1E8C8C8-E625-FD4C-A950-F956AA3723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012017" y="4680542"/>
            <a:ext cx="4359966" cy="43615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733BFD54-8682-5D48-9508-77E5F493900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012017" y="9361084"/>
            <a:ext cx="4359966" cy="4361542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54702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6">
            <a:extLst>
              <a:ext uri="{FF2B5EF4-FFF2-40B4-BE49-F238E27FC236}">
                <a16:creationId xmlns:a16="http://schemas.microsoft.com/office/drawing/2014/main" id="{97D7ACE9-7C11-B849-9D74-23E66819B3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582059"/>
            <a:ext cx="24384000" cy="10551884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43488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6">
            <a:extLst>
              <a:ext uri="{FF2B5EF4-FFF2-40B4-BE49-F238E27FC236}">
                <a16:creationId xmlns:a16="http://schemas.microsoft.com/office/drawing/2014/main" id="{52B82C27-3D44-3B49-9B36-BCBF9A6D0DE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15548" y="1582059"/>
            <a:ext cx="20752904" cy="10551884"/>
          </a:xfrm>
          <a:custGeom>
            <a:avLst/>
            <a:gdLst>
              <a:gd name="connsiteX0" fmla="*/ 0 w 9736347"/>
              <a:gd name="connsiteY0" fmla="*/ 0 h 10551884"/>
              <a:gd name="connsiteX1" fmla="*/ 9736347 w 9736347"/>
              <a:gd name="connsiteY1" fmla="*/ 0 h 10551884"/>
              <a:gd name="connsiteX2" fmla="*/ 9736347 w 9736347"/>
              <a:gd name="connsiteY2" fmla="*/ 10551884 h 10551884"/>
              <a:gd name="connsiteX3" fmla="*/ 0 w 9736347"/>
              <a:gd name="connsiteY3" fmla="*/ 10551884 h 1055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36347" h="10551884">
                <a:moveTo>
                  <a:pt x="0" y="0"/>
                </a:moveTo>
                <a:lnTo>
                  <a:pt x="9736347" y="0"/>
                </a:lnTo>
                <a:lnTo>
                  <a:pt x="9736347" y="10551884"/>
                </a:lnTo>
                <a:lnTo>
                  <a:pt x="0" y="1055188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2800" b="1" i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16180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12273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60748F-EBFF-A842-B7E0-D3C9A7EA18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6363" y="894102"/>
            <a:ext cx="5046662" cy="60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25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4030248" y="2513022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8642004" y="2513022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13253760" y="2513022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17865516" y="2513022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4030248" y="7760884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21"/>
          </p:nvPr>
        </p:nvSpPr>
        <p:spPr>
          <a:xfrm>
            <a:off x="8642004" y="7760884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22"/>
          </p:nvPr>
        </p:nvSpPr>
        <p:spPr>
          <a:xfrm>
            <a:off x="13253760" y="7760884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23"/>
          </p:nvPr>
        </p:nvSpPr>
        <p:spPr>
          <a:xfrm>
            <a:off x="17865516" y="7760884"/>
            <a:ext cx="2972588" cy="2972588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40CB90-9010-D54E-84C0-439D7E61BDE4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spc="600" dirty="0">
                <a:solidFill>
                  <a:schemeClr val="tx2"/>
                </a:solidFill>
                <a:latin typeface="Arial Black" panose="020B0604020202020204" pitchFamily="34" charset="0"/>
                <a:ea typeface="Roboto Slab" pitchFamily="2" charset="0"/>
                <a:cs typeface="Arial Black" panose="020B0604020202020204" pitchFamily="34" charset="0"/>
              </a:rPr>
              <a:t>TEXAS</a:t>
            </a:r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 ENGINEERING</a:t>
            </a:r>
          </a:p>
        </p:txBody>
      </p:sp>
    </p:spTree>
    <p:extLst>
      <p:ext uri="{BB962C8B-B14F-4D97-AF65-F5344CB8AC3E}">
        <p14:creationId xmlns:p14="http://schemas.microsoft.com/office/powerpoint/2010/main" val="348117848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984626" y="3054218"/>
            <a:ext cx="5277204" cy="527720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0265342" y="3054218"/>
            <a:ext cx="5277204" cy="527720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16546056" y="3054218"/>
            <a:ext cx="5277204" cy="5277204"/>
          </a:xfrm>
          <a:prstGeom prst="ellipse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99000">
                <a:schemeClr val="bg1">
                  <a:lumMod val="75000"/>
                </a:schemeClr>
              </a:gs>
            </a:gsLst>
            <a:lin ang="5400000" scaled="1"/>
          </a:gradFill>
          <a:ln>
            <a:noFill/>
          </a:ln>
        </p:spPr>
        <p:txBody>
          <a:bodyPr anchor="ctr">
            <a:normAutofit/>
          </a:bodyPr>
          <a:lstStyle>
            <a:lvl1pPr algn="ctr">
              <a:defRPr sz="24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E0EEE2-0C02-2148-AAC7-BD034DA08AF2}"/>
              </a:ext>
            </a:extLst>
          </p:cNvPr>
          <p:cNvSpPr txBox="1"/>
          <p:nvPr userDrawn="1"/>
        </p:nvSpPr>
        <p:spPr>
          <a:xfrm>
            <a:off x="2445207" y="1582057"/>
            <a:ext cx="11076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0" spc="600" dirty="0">
                <a:solidFill>
                  <a:schemeClr val="tx2"/>
                </a:solidFill>
                <a:latin typeface="Arial Black" panose="020B0604020202020204" pitchFamily="34" charset="0"/>
                <a:ea typeface="Roboto Slab" pitchFamily="2" charset="0"/>
                <a:cs typeface="Arial Black" panose="020B0604020202020204" pitchFamily="34" charset="0"/>
              </a:rPr>
              <a:t>TEXAS</a:t>
            </a:r>
            <a:r>
              <a:rPr lang="en-US" sz="1600" b="1" spc="600" dirty="0">
                <a:solidFill>
                  <a:schemeClr val="tx2"/>
                </a:solidFill>
                <a:latin typeface="Arial" panose="020B0604020202020204" pitchFamily="34" charset="0"/>
                <a:ea typeface="Roboto Slab" pitchFamily="2" charset="0"/>
              </a:rPr>
              <a:t> ENGINEERING</a:t>
            </a:r>
          </a:p>
        </p:txBody>
      </p:sp>
    </p:spTree>
    <p:extLst>
      <p:ext uri="{BB962C8B-B14F-4D97-AF65-F5344CB8AC3E}">
        <p14:creationId xmlns:p14="http://schemas.microsoft.com/office/powerpoint/2010/main" val="360186571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72264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BF5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B90DDF-BC4D-D34B-A3DA-3854F0A163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02508" y="6172936"/>
            <a:ext cx="11519211" cy="137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098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0"/>
          <p:cNvSpPr>
            <a:spLocks noGrp="1"/>
          </p:cNvSpPr>
          <p:nvPr>
            <p:ph type="pic" sz="quarter" idx="11"/>
          </p:nvPr>
        </p:nvSpPr>
        <p:spPr>
          <a:xfrm>
            <a:off x="11230023" y="8936016"/>
            <a:ext cx="1923954" cy="1892196"/>
          </a:xfrm>
          <a:prstGeom prst="ellipse">
            <a:avLst/>
          </a:prstGeom>
          <a:solidFill>
            <a:schemeClr val="bg1">
              <a:lumMod val="75000"/>
            </a:schemeClr>
          </a:solidFill>
          <a:effectLst>
            <a:softEdge rad="0"/>
          </a:effectLst>
        </p:spPr>
        <p:txBody>
          <a:bodyPr/>
          <a:lstStyle>
            <a:lvl1pPr>
              <a:defRPr sz="1000" b="0" i="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3044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05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8" r:id="rId24"/>
    <p:sldLayoutId id="2147483739" r:id="rId25"/>
    <p:sldLayoutId id="2147483740" r:id="rId26"/>
    <p:sldLayoutId id="2147483741" r:id="rId27"/>
    <p:sldLayoutId id="2147483742" r:id="rId28"/>
    <p:sldLayoutId id="2147483743" r:id="rId29"/>
    <p:sldLayoutId id="2147483744" r:id="rId30"/>
    <p:sldLayoutId id="2147483745" r:id="rId31"/>
    <p:sldLayoutId id="2147483746" r:id="rId32"/>
    <p:sldLayoutId id="2147483747" r:id="rId33"/>
    <p:sldLayoutId id="2147483748" r:id="rId34"/>
    <p:sldLayoutId id="2147483749" r:id="rId35"/>
    <p:sldLayoutId id="2147483750" r:id="rId36"/>
    <p:sldLayoutId id="2147483751" r:id="rId37"/>
    <p:sldLayoutId id="2147483752" r:id="rId38"/>
    <p:sldLayoutId id="2147483753" r:id="rId39"/>
    <p:sldLayoutId id="2147483754" r:id="rId40"/>
    <p:sldLayoutId id="2147483755" r:id="rId41"/>
    <p:sldLayoutId id="2147483756" r:id="rId42"/>
    <p:sldLayoutId id="2147483757" r:id="rId43"/>
    <p:sldLayoutId id="2147483758" r:id="rId44"/>
    <p:sldLayoutId id="2147483759" r:id="rId45"/>
    <p:sldLayoutId id="2147483760" r:id="rId46"/>
    <p:sldLayoutId id="2147483762" r:id="rId47"/>
    <p:sldLayoutId id="2147483763" r:id="rId48"/>
    <p:sldLayoutId id="2147483764" r:id="rId49"/>
    <p:sldLayoutId id="2147483661" r:id="rId50"/>
    <p:sldLayoutId id="2147483662" r:id="rId51"/>
    <p:sldLayoutId id="2147483665" r:id="rId52"/>
    <p:sldLayoutId id="2147483708" r:id="rId53"/>
    <p:sldLayoutId id="2147483692" r:id="rId54"/>
    <p:sldLayoutId id="2147483693" r:id="rId55"/>
    <p:sldLayoutId id="2147483694" r:id="rId56"/>
    <p:sldLayoutId id="2147483709" r:id="rId57"/>
    <p:sldLayoutId id="2147483684" r:id="rId58"/>
    <p:sldLayoutId id="2147483704" r:id="rId59"/>
    <p:sldLayoutId id="2147483705" r:id="rId60"/>
    <p:sldLayoutId id="2147483710" r:id="rId61"/>
    <p:sldLayoutId id="2147483711" r:id="rId62"/>
    <p:sldLayoutId id="2147483712" r:id="rId63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Open Sans" panose="020B0606030504020204" pitchFamily="34" charset="0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Open Sans" panose="020B0606030504020204" pitchFamily="34" charset="0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7">
            <a:extLst>
              <a:ext uri="{FF2B5EF4-FFF2-40B4-BE49-F238E27FC236}">
                <a16:creationId xmlns:a16="http://schemas.microsoft.com/office/drawing/2014/main" id="{ADEAA7FA-1330-5142-BD3F-58817D796B04}"/>
              </a:ext>
            </a:extLst>
          </p:cNvPr>
          <p:cNvSpPr txBox="1">
            <a:spLocks/>
          </p:cNvSpPr>
          <p:nvPr/>
        </p:nvSpPr>
        <p:spPr>
          <a:xfrm>
            <a:off x="1237586" y="3990704"/>
            <a:ext cx="15773400" cy="3505200"/>
          </a:xfrm>
          <a:prstGeom prst="rect">
            <a:avLst/>
          </a:prstGeom>
        </p:spPr>
        <p:txBody>
          <a:bodyPr vert="horz" wrap="square" lIns="182880" tIns="91440" rIns="182880" bIns="9144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7200" dirty="0" err="1">
                <a:solidFill>
                  <a:schemeClr val="tx1"/>
                </a:solidFill>
              </a:rPr>
              <a:t>TimeBox</a:t>
            </a:r>
            <a:r>
              <a:rPr lang="en-US" sz="7200" dirty="0">
                <a:solidFill>
                  <a:schemeClr val="tx1"/>
                </a:solidFill>
              </a:rPr>
              <a:t> Testing Lab:</a:t>
            </a:r>
          </a:p>
          <a:p>
            <a:pPr>
              <a:lnSpc>
                <a:spcPct val="70000"/>
              </a:lnSpc>
            </a:pPr>
            <a:r>
              <a:rPr lang="en-US" sz="7200" dirty="0">
                <a:solidFill>
                  <a:schemeClr val="tx1"/>
                </a:solidFill>
              </a:rPr>
              <a:t>A Fault Injection Framework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6B7E6B6-C372-3A40-9CFF-634200BCA241}"/>
              </a:ext>
            </a:extLst>
          </p:cNvPr>
          <p:cNvCxnSpPr>
            <a:cxnSpLocks/>
          </p:cNvCxnSpPr>
          <p:nvPr/>
        </p:nvCxnSpPr>
        <p:spPr>
          <a:xfrm>
            <a:off x="1423852" y="7696986"/>
            <a:ext cx="1259694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0BB14C8-DF8D-064B-BF13-409B637089E4}"/>
              </a:ext>
            </a:extLst>
          </p:cNvPr>
          <p:cNvSpPr txBox="1"/>
          <p:nvPr/>
        </p:nvSpPr>
        <p:spPr>
          <a:xfrm>
            <a:off x="1237587" y="8116084"/>
            <a:ext cx="13401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</a:rPr>
              <a:t>A Full-Stack Testing System Using </a:t>
            </a:r>
            <a:r>
              <a:rPr lang="en-US" sz="3600" dirty="0" err="1">
                <a:latin typeface="Arial" panose="020B0604020202020204" pitchFamily="34" charset="0"/>
              </a:rPr>
              <a:t>FastAPI</a:t>
            </a:r>
            <a:r>
              <a:rPr lang="en-US" sz="3600" dirty="0">
                <a:latin typeface="Arial" panose="020B0604020202020204" pitchFamily="34" charset="0"/>
              </a:rPr>
              <a:t>, </a:t>
            </a:r>
            <a:r>
              <a:rPr lang="en-US" sz="3600" dirty="0" err="1">
                <a:latin typeface="Arial" panose="020B0604020202020204" pitchFamily="34" charset="0"/>
              </a:rPr>
              <a:t>Pytest</a:t>
            </a:r>
            <a:r>
              <a:rPr lang="en-US" sz="3600" dirty="0">
                <a:latin typeface="Arial" panose="020B0604020202020204" pitchFamily="34" charset="0"/>
              </a:rPr>
              <a:t>, and Playwright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58D4F9-7DF6-964D-B0CC-49479A89955E}"/>
              </a:ext>
            </a:extLst>
          </p:cNvPr>
          <p:cNvSpPr txBox="1"/>
          <p:nvPr/>
        </p:nvSpPr>
        <p:spPr>
          <a:xfrm>
            <a:off x="1542381" y="3309997"/>
            <a:ext cx="4384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 Black" panose="020B0604020202020204" pitchFamily="34" charset="0"/>
                <a:cs typeface="Arial Black" panose="020B0604020202020204" pitchFamily="34" charset="0"/>
              </a:rPr>
              <a:t>April 2026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35F89FD-B309-4543-B794-D606B41D6AF3}"/>
              </a:ext>
            </a:extLst>
          </p:cNvPr>
          <p:cNvGrpSpPr/>
          <p:nvPr/>
        </p:nvGrpSpPr>
        <p:grpSpPr>
          <a:xfrm>
            <a:off x="23774400" y="0"/>
            <a:ext cx="609600" cy="13716000"/>
            <a:chOff x="23774400" y="0"/>
            <a:chExt cx="609600" cy="13716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53FDBAD-4457-FA42-8FFA-C5DB840E97BC}"/>
                </a:ext>
              </a:extLst>
            </p:cNvPr>
            <p:cNvSpPr/>
            <p:nvPr/>
          </p:nvSpPr>
          <p:spPr>
            <a:xfrm>
              <a:off x="23774400" y="0"/>
              <a:ext cx="609600" cy="1117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latin typeface="Arial" panose="020B0604020202020204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4094760-47C4-194A-91FA-2042C4F50832}"/>
                </a:ext>
              </a:extLst>
            </p:cNvPr>
            <p:cNvSpPr/>
            <p:nvPr/>
          </p:nvSpPr>
          <p:spPr>
            <a:xfrm>
              <a:off x="23774400" y="11176000"/>
              <a:ext cx="609600" cy="2540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>
                <a:latin typeface="Arial" panose="020B0604020202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EA5F3287-689D-D046-9A1E-5DF70D5A7DB2}"/>
              </a:ext>
            </a:extLst>
          </p:cNvPr>
          <p:cNvSpPr txBox="1"/>
          <p:nvPr/>
        </p:nvSpPr>
        <p:spPr>
          <a:xfrm>
            <a:off x="1237587" y="12015112"/>
            <a:ext cx="1083588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rial Black" panose="020B0604020202020204" pitchFamily="34" charset="0"/>
                <a:cs typeface="Arial Black" panose="020B0604020202020204" pitchFamily="34" charset="0"/>
              </a:rPr>
              <a:t>HAMIZ SIDDIQUI</a:t>
            </a:r>
          </a:p>
          <a:p>
            <a:r>
              <a:rPr lang="en-US" sz="2200" dirty="0">
                <a:latin typeface="Arial" panose="020B0604020202020204" pitchFamily="34" charset="0"/>
              </a:rPr>
              <a:t>MS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324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84298-5311-0A9B-FEE9-D7A264DCC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C019A3D4-C31C-844A-C295-5910341A1DE9}"/>
              </a:ext>
            </a:extLst>
          </p:cNvPr>
          <p:cNvSpPr txBox="1"/>
          <p:nvPr/>
        </p:nvSpPr>
        <p:spPr>
          <a:xfrm>
            <a:off x="1200000" y="900000"/>
            <a:ext cx="9000000" cy="45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200" dirty="0">
                <a:solidFill>
                  <a:srgbClr val="BF5700"/>
                </a:solidFill>
                <a:latin typeface="Arial" panose="020B0604020202020204" pitchFamily="34" charset="0"/>
              </a:rPr>
              <a:t>TEXAS ENGINEERING</a:t>
            </a:r>
          </a:p>
        </p:txBody>
      </p:sp>
      <p:sp>
        <p:nvSpPr>
          <p:cNvPr id="11" name="EyebrowLine">
            <a:extLst>
              <a:ext uri="{FF2B5EF4-FFF2-40B4-BE49-F238E27FC236}">
                <a16:creationId xmlns:a16="http://schemas.microsoft.com/office/drawing/2014/main" id="{2F61C427-9C92-2949-925E-C541B13881E3}"/>
              </a:ext>
            </a:extLst>
          </p:cNvPr>
          <p:cNvSpPr/>
          <p:nvPr/>
        </p:nvSpPr>
        <p:spPr>
          <a:xfrm>
            <a:off x="1200000" y="1320000"/>
            <a:ext cx="1900000" cy="0"/>
          </a:xfrm>
          <a:prstGeom prst="line">
            <a:avLst/>
          </a:prstGeom>
          <a:ln w="28575">
            <a:solidFill>
              <a:srgbClr val="BF570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C485B9C-93FF-6051-FEBA-68F594CBDE17}"/>
              </a:ext>
            </a:extLst>
          </p:cNvPr>
          <p:cNvSpPr txBox="1"/>
          <p:nvPr/>
        </p:nvSpPr>
        <p:spPr>
          <a:xfrm>
            <a:off x="1200000" y="1800000"/>
            <a:ext cx="1350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Problem and Project Idea</a:t>
            </a:r>
          </a:p>
        </p:txBody>
      </p:sp>
      <p:sp>
        <p:nvSpPr>
          <p:cNvPr id="4" name="Bullets">
            <a:extLst>
              <a:ext uri="{FF2B5EF4-FFF2-40B4-BE49-F238E27FC236}">
                <a16:creationId xmlns:a16="http://schemas.microsoft.com/office/drawing/2014/main" id="{76BA15FD-2E18-757E-D31B-C14075297032}"/>
              </a:ext>
            </a:extLst>
          </p:cNvPr>
          <p:cNvSpPr txBox="1"/>
          <p:nvPr/>
        </p:nvSpPr>
        <p:spPr>
          <a:xfrm>
            <a:off x="1200000" y="5200000"/>
            <a:ext cx="13500000" cy="70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200" b="1" dirty="0"/>
              <a:t>Why this project</a:t>
            </a:r>
          </a:p>
          <a:p>
            <a:r>
              <a:rPr lang="en-US" sz="3200" dirty="0"/>
              <a:t>Flaky behavior usually comes from timing, ordering, stale state, or small hidden assumptions that only show up once the app is pushed out of its clean baseline.</a:t>
            </a:r>
          </a:p>
          <a:p>
            <a:endParaRPr lang="en-US" sz="3200" dirty="0"/>
          </a:p>
          <a:p>
            <a:r>
              <a:rPr lang="en-US" sz="3200" b="1" dirty="0"/>
              <a:t>Project direction</a:t>
            </a:r>
          </a:p>
          <a:p>
            <a:r>
              <a:rPr lang="en-US" sz="3200" dirty="0"/>
              <a:t>Instead of copying a huge research-style proposal, I built a smaller fault-injection lab where bugs can be turned on and observed immediately.</a:t>
            </a:r>
          </a:p>
          <a:p>
            <a:br>
              <a:rPr lang="en-US" sz="3200" dirty="0"/>
            </a:br>
            <a:endParaRPr lang="en-US" sz="3200" dirty="0"/>
          </a:p>
          <a:p>
            <a:r>
              <a:rPr lang="en-US" sz="3200" b="1" dirty="0"/>
              <a:t>What makes it useful</a:t>
            </a:r>
          </a:p>
          <a:p>
            <a:r>
              <a:rPr lang="en-US" sz="3200" dirty="0"/>
              <a:t>The same dashboard supports normal task actions, bug activation, scenario presets, test automation, and a visible browser demo.</a:t>
            </a:r>
          </a:p>
          <a:p>
            <a:endParaRPr lang="en-US" sz="3200" dirty="0"/>
          </a:p>
        </p:txBody>
      </p:sp>
      <p:grpSp>
        <p:nvGrpSpPr>
          <p:cNvPr id="20" name="AccentBars">
            <a:extLst>
              <a:ext uri="{FF2B5EF4-FFF2-40B4-BE49-F238E27FC236}">
                <a16:creationId xmlns:a16="http://schemas.microsoft.com/office/drawing/2014/main" id="{37C77D88-7873-9B3E-B369-936EF5080418}"/>
              </a:ext>
            </a:extLst>
          </p:cNvPr>
          <p:cNvGrpSpPr/>
          <p:nvPr/>
        </p:nvGrpSpPr>
        <p:grpSpPr>
          <a:xfrm>
            <a:off x="23774400" y="0"/>
            <a:ext cx="609600" cy="13716000"/>
            <a:chOff x="23774400" y="0"/>
            <a:chExt cx="609600" cy="13716000"/>
          </a:xfrm>
        </p:grpSpPr>
        <p:sp>
          <p:nvSpPr>
            <p:cNvPr id="21" name="Accent1">
              <a:extLst>
                <a:ext uri="{FF2B5EF4-FFF2-40B4-BE49-F238E27FC236}">
                  <a16:creationId xmlns:a16="http://schemas.microsoft.com/office/drawing/2014/main" id="{7397C8F1-4057-A685-1FA3-BAF715B78D90}"/>
                </a:ext>
              </a:extLst>
            </p:cNvPr>
            <p:cNvSpPr/>
            <p:nvPr/>
          </p:nvSpPr>
          <p:spPr>
            <a:xfrm>
              <a:off x="23774400" y="0"/>
              <a:ext cx="609600" cy="11176000"/>
            </a:xfrm>
            <a:prstGeom prst="rect">
              <a:avLst/>
            </a:prstGeom>
            <a:solidFill>
              <a:srgbClr val="BF570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Accent2">
              <a:extLst>
                <a:ext uri="{FF2B5EF4-FFF2-40B4-BE49-F238E27FC236}">
                  <a16:creationId xmlns:a16="http://schemas.microsoft.com/office/drawing/2014/main" id="{FAB8ABF1-656B-73AD-FBB0-48FDFFED1BF6}"/>
                </a:ext>
              </a:extLst>
            </p:cNvPr>
            <p:cNvSpPr/>
            <p:nvPr/>
          </p:nvSpPr>
          <p:spPr>
            <a:xfrm>
              <a:off x="23774400" y="11176000"/>
              <a:ext cx="609600" cy="2540000"/>
            </a:xfrm>
            <a:prstGeom prst="rect">
              <a:avLst/>
            </a:prstGeom>
            <a:solidFill>
              <a:srgbClr val="F5B335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Bullets">
            <a:extLst>
              <a:ext uri="{FF2B5EF4-FFF2-40B4-BE49-F238E27FC236}">
                <a16:creationId xmlns:a16="http://schemas.microsoft.com/office/drawing/2014/main" id="{9B990443-AEFB-6CBC-687C-34D502C5C64A}"/>
              </a:ext>
            </a:extLst>
          </p:cNvPr>
          <p:cNvSpPr txBox="1"/>
          <p:nvPr/>
        </p:nvSpPr>
        <p:spPr>
          <a:xfrm>
            <a:off x="16857444" y="5200000"/>
            <a:ext cx="5426087" cy="3500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r>
              <a:rPr lang="en-US" sz="3200" b="1" dirty="0"/>
              <a:t>Final app focus</a:t>
            </a:r>
          </a:p>
          <a:p>
            <a:r>
              <a:rPr lang="en-US" sz="3200" dirty="0"/>
              <a:t>Simple task workflow </a:t>
            </a:r>
          </a:p>
          <a:p>
            <a:r>
              <a:rPr lang="en-US" sz="3200" dirty="0"/>
              <a:t>Controlled fault profiles </a:t>
            </a:r>
          </a:p>
          <a:p>
            <a:r>
              <a:rPr lang="en-US" sz="3200" dirty="0"/>
              <a:t>Session-safe behavior </a:t>
            </a:r>
          </a:p>
          <a:p>
            <a:r>
              <a:rPr lang="en-US" sz="3200" dirty="0"/>
              <a:t>Visible demo artifacts </a:t>
            </a:r>
          </a:p>
          <a:p>
            <a:r>
              <a:rPr lang="en-US" sz="3200" dirty="0"/>
              <a:t>Readable test outcomes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91683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0000" y="900000"/>
            <a:ext cx="9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spc="200">
                <a:solidFill>
                  <a:srgbClr val="BF5700"/>
                </a:solidFill>
                <a:latin typeface="Arial"/>
              </a:rPr>
              <a:t>TEXAS ENGINEERING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00000" y="1320000"/>
            <a:ext cx="1900000" cy="0"/>
          </a:xfrm>
          <a:prstGeom prst="line">
            <a:avLst/>
          </a:prstGeom>
          <a:ln w="28575">
            <a:solidFill>
              <a:srgbClr val="BF5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00000" y="1800000"/>
            <a:ext cx="21984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5400" b="1">
                <a:solidFill>
                  <a:srgbClr val="1F2D3D"/>
                </a:solidFill>
              </a:rPr>
              <a:t>Tech stack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0000" y="5700000"/>
            <a:ext cx="6800000" cy="5200000"/>
          </a:xfrm>
          <a:prstGeom prst="roundRect">
            <a:avLst>
              <a:gd name="adj" fmla="val 10000"/>
            </a:avLst>
          </a:prstGeom>
          <a:solidFill>
            <a:srgbClr val="2D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1500000" y="5700000"/>
            <a:ext cx="6800000" cy="5267059"/>
          </a:xfrm>
          <a:prstGeom prst="rect">
            <a:avLst/>
          </a:prstGeom>
          <a:noFill/>
        </p:spPr>
        <p:txBody>
          <a:bodyPr wrap="square" lIns="350000" tIns="350000" rIns="350000" bIns="350000" anchor="t">
            <a:spAutoFit/>
          </a:bodyPr>
          <a:lstStyle/>
          <a:p>
            <a:r>
              <a:rPr b="1" i="0">
                <a:solidFill>
                  <a:srgbClr val="F5B335"/>
                </a:solidFill>
              </a:rPr>
              <a:t>BACKEND</a:t>
            </a:r>
          </a:p>
          <a:p>
            <a:endParaRPr b="1" i="0">
              <a:solidFill>
                <a:srgbClr val="F5B335"/>
              </a:solidFill>
            </a:endParaRPr>
          </a:p>
          <a:p>
            <a:pPr>
              <a:spcBef>
                <a:spcPts val="1000"/>
              </a:spcBef>
            </a:pPr>
            <a:r>
              <a:rPr sz="2800" b="1" i="0">
                <a:solidFill>
                  <a:srgbClr val="FFFFFF"/>
                </a:solidFill>
              </a:rPr>
              <a:t>FastAPI</a:t>
            </a:r>
          </a:p>
          <a:p>
            <a:r>
              <a:rPr b="0" i="0">
                <a:solidFill>
                  <a:srgbClr val="C0C9D4"/>
                </a:solidFill>
              </a:rPr>
              <a:t>web framework + routing</a:t>
            </a:r>
          </a:p>
          <a:p>
            <a:pPr>
              <a:spcBef>
                <a:spcPts val="1400"/>
              </a:spcBef>
            </a:pPr>
            <a:r>
              <a:rPr sz="2800" b="1" i="0">
                <a:solidFill>
                  <a:srgbClr val="FFFFFF"/>
                </a:solidFill>
              </a:rPr>
              <a:t>SQLite</a:t>
            </a:r>
          </a:p>
          <a:p>
            <a:r>
              <a:rPr b="0" i="0">
                <a:solidFill>
                  <a:srgbClr val="C0C9D4"/>
                </a:solidFill>
              </a:rPr>
              <a:t>zero-config persistence</a:t>
            </a:r>
          </a:p>
          <a:p>
            <a:pPr>
              <a:spcBef>
                <a:spcPts val="1400"/>
              </a:spcBef>
            </a:pPr>
            <a:r>
              <a:rPr sz="2800" b="1" i="0">
                <a:solidFill>
                  <a:srgbClr val="FFFFFF"/>
                </a:solidFill>
              </a:rPr>
              <a:t>itsdangerous</a:t>
            </a:r>
          </a:p>
          <a:p>
            <a:r>
              <a:rPr b="0" i="0">
                <a:solidFill>
                  <a:srgbClr val="C0C9D4"/>
                </a:solidFill>
              </a:rPr>
              <a:t>signed session cookies</a:t>
            </a:r>
          </a:p>
          <a:p>
            <a:pPr>
              <a:spcBef>
                <a:spcPts val="1400"/>
              </a:spcBef>
            </a:pPr>
            <a:r>
              <a:rPr sz="2800" b="1" i="0">
                <a:solidFill>
                  <a:srgbClr val="FFFFFF"/>
                </a:solidFill>
              </a:rPr>
              <a:t>uvicorn</a:t>
            </a:r>
          </a:p>
          <a:p>
            <a:r>
              <a:rPr b="0" i="0">
                <a:solidFill>
                  <a:srgbClr val="C0C9D4"/>
                </a:solidFill>
              </a:rPr>
              <a:t>ASGI server</a:t>
            </a:r>
          </a:p>
          <a:p>
            <a:pPr>
              <a:spcBef>
                <a:spcPts val="1800"/>
              </a:spcBef>
            </a:pPr>
            <a:r>
              <a:rPr b="0" i="1">
                <a:solidFill>
                  <a:srgbClr val="F5B335"/>
                </a:solidFill>
              </a:rPr>
              <a:t>~450 lines in main.py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0000" y="5700000"/>
            <a:ext cx="6800000" cy="52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900000" y="5700000"/>
            <a:ext cx="6800000" cy="5267059"/>
          </a:xfrm>
          <a:prstGeom prst="rect">
            <a:avLst/>
          </a:prstGeom>
          <a:noFill/>
        </p:spPr>
        <p:txBody>
          <a:bodyPr wrap="square" lIns="350000" tIns="350000" rIns="350000" bIns="350000" anchor="t">
            <a:spAutoFit/>
          </a:bodyPr>
          <a:lstStyle/>
          <a:p>
            <a:r>
              <a:rPr b="1" i="0">
                <a:solidFill>
                  <a:srgbClr val="BF5700"/>
                </a:solidFill>
              </a:rPr>
              <a:t>FRONTEND</a:t>
            </a:r>
          </a:p>
          <a:p>
            <a:endParaRPr b="1" i="0">
              <a:solidFill>
                <a:srgbClr val="BF5700"/>
              </a:solidFill>
            </a:endParaRPr>
          </a:p>
          <a:p>
            <a:pPr>
              <a:spcBef>
                <a:spcPts val="1000"/>
              </a:spcBef>
            </a:pPr>
            <a:r>
              <a:rPr sz="2800" b="1" i="0">
                <a:solidFill>
                  <a:srgbClr val="1F2D3D"/>
                </a:solidFill>
              </a:rPr>
              <a:t>Jinja2 templates</a:t>
            </a:r>
          </a:p>
          <a:p>
            <a:r>
              <a:rPr b="0" i="0">
                <a:solidFill>
                  <a:srgbClr val="6B7280"/>
                </a:solidFill>
              </a:rPr>
              <a:t>server-rendered HTML</a:t>
            </a:r>
          </a:p>
          <a:p>
            <a:pPr>
              <a:spcBef>
                <a:spcPts val="1400"/>
              </a:spcBef>
            </a:pPr>
            <a:r>
              <a:rPr sz="2800" b="1" i="0">
                <a:solidFill>
                  <a:srgbClr val="1F2D3D"/>
                </a:solidFill>
              </a:rPr>
              <a:t>Vanilla CSS</a:t>
            </a:r>
          </a:p>
          <a:p>
            <a:r>
              <a:rPr b="0" i="0">
                <a:solidFill>
                  <a:srgbClr val="6B7280"/>
                </a:solidFill>
              </a:rPr>
              <a:t>~600 lines, custom design</a:t>
            </a:r>
          </a:p>
          <a:p>
            <a:pPr>
              <a:spcBef>
                <a:spcPts val="1400"/>
              </a:spcBef>
            </a:pPr>
            <a:r>
              <a:rPr sz="2800" b="1" i="0">
                <a:solidFill>
                  <a:srgbClr val="1F2D3D"/>
                </a:solidFill>
              </a:rPr>
              <a:t>Vanilla JavaScript</a:t>
            </a:r>
          </a:p>
          <a:p>
            <a:r>
              <a:rPr b="0" i="0">
                <a:solidFill>
                  <a:srgbClr val="6B7280"/>
                </a:solidFill>
              </a:rPr>
              <a:t>~40 lines, no framework</a:t>
            </a:r>
          </a:p>
          <a:p>
            <a:pPr>
              <a:spcBef>
                <a:spcPts val="1400"/>
              </a:spcBef>
            </a:pPr>
            <a:r>
              <a:rPr sz="2800" b="1" i="0">
                <a:solidFill>
                  <a:srgbClr val="1F2D3D"/>
                </a:solidFill>
              </a:rPr>
              <a:t>4 templates</a:t>
            </a:r>
          </a:p>
          <a:p>
            <a:r>
              <a:rPr b="0" i="0">
                <a:solidFill>
                  <a:srgbClr val="6B7280"/>
                </a:solidFill>
              </a:rPr>
              <a:t>base, login, register, dashboard</a:t>
            </a:r>
          </a:p>
          <a:p>
            <a:pPr>
              <a:spcBef>
                <a:spcPts val="1800"/>
              </a:spcBef>
            </a:pPr>
            <a:r>
              <a:rPr b="0" i="1">
                <a:solidFill>
                  <a:srgbClr val="BF5700"/>
                </a:solidFill>
              </a:rPr>
              <a:t>No build step, no bundler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300000" y="5700000"/>
            <a:ext cx="6800000" cy="5200000"/>
          </a:xfrm>
          <a:prstGeom prst="roundRect">
            <a:avLst>
              <a:gd name="adj" fmla="val 10000"/>
            </a:avLst>
          </a:prstGeom>
          <a:solidFill>
            <a:srgbClr val="6B9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6300000" y="5700000"/>
            <a:ext cx="6800000" cy="5267059"/>
          </a:xfrm>
          <a:prstGeom prst="rect">
            <a:avLst/>
          </a:prstGeom>
          <a:noFill/>
        </p:spPr>
        <p:txBody>
          <a:bodyPr wrap="square" lIns="350000" tIns="350000" rIns="350000" bIns="350000" anchor="t">
            <a:spAutoFit/>
          </a:bodyPr>
          <a:lstStyle/>
          <a:p>
            <a:r>
              <a:rPr b="1" i="0">
                <a:solidFill>
                  <a:srgbClr val="FFF4DB"/>
                </a:solidFill>
              </a:rPr>
              <a:t>TESTS &amp; TOOLING</a:t>
            </a:r>
          </a:p>
          <a:p>
            <a:endParaRPr b="1" i="0">
              <a:solidFill>
                <a:srgbClr val="FFF4DB"/>
              </a:solidFill>
            </a:endParaRPr>
          </a:p>
          <a:p>
            <a:pPr>
              <a:spcBef>
                <a:spcPts val="1000"/>
              </a:spcBef>
            </a:pPr>
            <a:r>
              <a:rPr sz="2800" b="1" i="0">
                <a:solidFill>
                  <a:srgbClr val="FFFFFF"/>
                </a:solidFill>
              </a:rPr>
              <a:t>Pytest</a:t>
            </a:r>
          </a:p>
          <a:p>
            <a:r>
              <a:rPr b="0" i="0">
                <a:solidFill>
                  <a:srgbClr val="D8E4DB"/>
                </a:solidFill>
              </a:rPr>
              <a:t>test runner + fixtures</a:t>
            </a:r>
          </a:p>
          <a:p>
            <a:pPr>
              <a:spcBef>
                <a:spcPts val="1400"/>
              </a:spcBef>
            </a:pPr>
            <a:r>
              <a:rPr sz="2800" b="1" i="0">
                <a:solidFill>
                  <a:srgbClr val="FFFFFF"/>
                </a:solidFill>
              </a:rPr>
              <a:t>Playwright</a:t>
            </a:r>
          </a:p>
          <a:p>
            <a:r>
              <a:rPr b="0" i="0">
                <a:solidFill>
                  <a:srgbClr val="D8E4DB"/>
                </a:solidFill>
              </a:rPr>
              <a:t>real-browser automation</a:t>
            </a:r>
          </a:p>
          <a:p>
            <a:pPr>
              <a:spcBef>
                <a:spcPts val="1400"/>
              </a:spcBef>
            </a:pPr>
            <a:r>
              <a:rPr sz="2800" b="1" i="0">
                <a:solidFill>
                  <a:srgbClr val="FFFFFF"/>
                </a:solidFill>
              </a:rPr>
              <a:t>FastAPI TestClient</a:t>
            </a:r>
          </a:p>
          <a:p>
            <a:r>
              <a:rPr b="0" i="0">
                <a:solidFill>
                  <a:srgbClr val="D8E4DB"/>
                </a:solidFill>
              </a:rPr>
              <a:t>in-process API calls</a:t>
            </a:r>
          </a:p>
          <a:p>
            <a:pPr>
              <a:spcBef>
                <a:spcPts val="1400"/>
              </a:spcBef>
            </a:pPr>
            <a:r>
              <a:rPr sz="2800" b="1" i="0">
                <a:solidFill>
                  <a:srgbClr val="FFFFFF"/>
                </a:solidFill>
              </a:rPr>
              <a:t>demo_browser_run.py</a:t>
            </a:r>
          </a:p>
          <a:p>
            <a:r>
              <a:rPr b="0" i="0">
                <a:solidFill>
                  <a:srgbClr val="D8E4DB"/>
                </a:solidFill>
              </a:rPr>
              <a:t>visible scenario walkthrough</a:t>
            </a:r>
          </a:p>
          <a:p>
            <a:pPr>
              <a:spcBef>
                <a:spcPts val="1800"/>
              </a:spcBef>
            </a:pPr>
            <a:r>
              <a:rPr b="0" i="1">
                <a:solidFill>
                  <a:srgbClr val="FFF4DB"/>
                </a:solidFill>
              </a:rPr>
              <a:t>13 automated tests in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0000" y="11400000"/>
            <a:ext cx="21600000" cy="1000000"/>
          </a:xfrm>
          <a:prstGeom prst="roundRect">
            <a:avLst>
              <a:gd name="adj" fmla="val 12000"/>
            </a:avLst>
          </a:prstGeom>
          <a:solidFill>
            <a:srgbClr val="F0D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00000" y="11400000"/>
            <a:ext cx="21600000" cy="1000000"/>
          </a:xfrm>
          <a:prstGeom prst="rect">
            <a:avLst/>
          </a:prstGeom>
          <a:noFill/>
        </p:spPr>
        <p:txBody>
          <a:bodyPr wrap="square" lIns="100000" tIns="100000" rIns="100000" bIns="100000" anchor="ctr">
            <a:spAutoFit/>
          </a:bodyPr>
          <a:lstStyle/>
          <a:p>
            <a:pPr algn="ctr"/>
            <a:r>
              <a:rPr sz="1800" b="1" i="0">
                <a:solidFill>
                  <a:srgbClr val="1F2D3D"/>
                </a:solidFill>
              </a:rPr>
              <a:t>Deployment: render.yaml + Procfile — ready to deploy to Render's free tier.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0" y="0"/>
            <a:ext cx="609600" cy="11176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774400" y="11176000"/>
            <a:ext cx="609600" cy="2540000"/>
          </a:xfrm>
          <a:prstGeom prst="rect">
            <a:avLst/>
          </a:prstGeom>
          <a:solidFill>
            <a:srgbClr val="F5B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0000" y="900000"/>
            <a:ext cx="9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spc="200">
                <a:solidFill>
                  <a:srgbClr val="BF5700"/>
                </a:solidFill>
                <a:latin typeface="Arial"/>
              </a:rPr>
              <a:t>TEXAS ENGINEERING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00000" y="1320000"/>
            <a:ext cx="1900000" cy="0"/>
          </a:xfrm>
          <a:prstGeom prst="line">
            <a:avLst/>
          </a:prstGeom>
          <a:ln w="28575">
            <a:solidFill>
              <a:srgbClr val="BF5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00000" y="1800000"/>
            <a:ext cx="21984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5400" b="1">
                <a:solidFill>
                  <a:srgbClr val="1F2D3D"/>
                </a:solidFill>
              </a:rPr>
              <a:t>Architecture and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0000" y="5800000"/>
            <a:ext cx="5400000" cy="1900000"/>
          </a:xfrm>
          <a:prstGeom prst="roundRect">
            <a:avLst>
              <a:gd name="adj" fmla="val 1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0000" y="5800000"/>
            <a:ext cx="5400000" cy="1900000"/>
          </a:xfrm>
          <a:prstGeom prst="rect">
            <a:avLst/>
          </a:prstGeom>
          <a:noFill/>
        </p:spPr>
        <p:txBody>
          <a:bodyPr wrap="square" lIns="250000" tIns="250000" rIns="250000" bIns="250000" anchor="t">
            <a:spAutoFit/>
          </a:bodyPr>
          <a:lstStyle/>
          <a:p>
            <a:r>
              <a:rPr sz="2200" b="1" i="0">
                <a:solidFill>
                  <a:srgbClr val="FFFFFF"/>
                </a:solidFill>
              </a:rPr>
              <a:t>User / Presenter</a:t>
            </a:r>
          </a:p>
          <a:p>
            <a:r>
              <a:rPr sz="1800" b="0" i="0">
                <a:solidFill>
                  <a:srgbClr val="F0F0F0"/>
                </a:solidFill>
              </a:rPr>
              <a:t>Creates tasks, edits them, and turns faults on for a demo.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0000" y="5800000"/>
            <a:ext cx="5400000" cy="1900000"/>
          </a:xfrm>
          <a:prstGeom prst="roundRect">
            <a:avLst>
              <a:gd name="adj" fmla="val 10000"/>
            </a:avLst>
          </a:prstGeom>
          <a:solidFill>
            <a:srgbClr val="2D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00000" y="5800000"/>
            <a:ext cx="5400000" cy="1900000"/>
          </a:xfrm>
          <a:prstGeom prst="rect">
            <a:avLst/>
          </a:prstGeom>
          <a:noFill/>
        </p:spPr>
        <p:txBody>
          <a:bodyPr wrap="square" lIns="250000" tIns="250000" rIns="250000" bIns="250000" anchor="t">
            <a:spAutoFit/>
          </a:bodyPr>
          <a:lstStyle/>
          <a:p>
            <a:r>
              <a:rPr sz="2200" b="1" i="0">
                <a:solidFill>
                  <a:srgbClr val="FFFFFF"/>
                </a:solidFill>
              </a:rPr>
              <a:t>Dashboard UI</a:t>
            </a:r>
          </a:p>
          <a:p>
            <a:r>
              <a:rPr sz="1800" b="0" i="0">
                <a:solidFill>
                  <a:srgbClr val="F0F0F0"/>
                </a:solidFill>
              </a:rPr>
              <a:t>Task workspace, task board, controls, presets, and fault toggles.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700000" y="5800000"/>
            <a:ext cx="5400000" cy="1900000"/>
          </a:xfrm>
          <a:prstGeom prst="roundRect">
            <a:avLst>
              <a:gd name="adj" fmla="val 10000"/>
            </a:avLst>
          </a:prstGeom>
          <a:solidFill>
            <a:srgbClr val="6B9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700000" y="5800000"/>
            <a:ext cx="5400000" cy="1900000"/>
          </a:xfrm>
          <a:prstGeom prst="rect">
            <a:avLst/>
          </a:prstGeom>
          <a:noFill/>
        </p:spPr>
        <p:txBody>
          <a:bodyPr wrap="square" lIns="250000" tIns="250000" rIns="250000" bIns="250000" anchor="t">
            <a:spAutoFit/>
          </a:bodyPr>
          <a:lstStyle/>
          <a:p>
            <a:r>
              <a:rPr sz="2200" b="1" i="0">
                <a:solidFill>
                  <a:srgbClr val="FFFFFF"/>
                </a:solidFill>
              </a:rPr>
              <a:t>Session Fault State</a:t>
            </a:r>
          </a:p>
          <a:p>
            <a:r>
              <a:rPr sz="1800" b="0" i="0">
                <a:solidFill>
                  <a:srgbClr val="F0F0F0"/>
                </a:solidFill>
              </a:rPr>
              <a:t>Bug profiles stored per browser session, not globally.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0000" y="8900000"/>
            <a:ext cx="5400000" cy="1900000"/>
          </a:xfrm>
          <a:prstGeom prst="roundRect">
            <a:avLst>
              <a:gd name="adj" fmla="val 10000"/>
            </a:avLst>
          </a:prstGeom>
          <a:solidFill>
            <a:srgbClr val="5A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00000" y="8900000"/>
            <a:ext cx="5400000" cy="1900000"/>
          </a:xfrm>
          <a:prstGeom prst="rect">
            <a:avLst/>
          </a:prstGeom>
          <a:noFill/>
        </p:spPr>
        <p:txBody>
          <a:bodyPr wrap="square" lIns="250000" tIns="250000" rIns="250000" bIns="250000" anchor="t">
            <a:spAutoFit/>
          </a:bodyPr>
          <a:lstStyle/>
          <a:p>
            <a:r>
              <a:rPr sz="2200" b="1" i="0">
                <a:solidFill>
                  <a:srgbClr val="FFFFFF"/>
                </a:solidFill>
              </a:rPr>
              <a:t>FastAPI + SQLite</a:t>
            </a:r>
          </a:p>
          <a:p>
            <a:r>
              <a:rPr sz="1800" b="0" i="0">
                <a:solidFill>
                  <a:srgbClr val="F0F0F0"/>
                </a:solidFill>
              </a:rPr>
              <a:t>App logic changes behavior depending on the active profile.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600000" y="8900000"/>
            <a:ext cx="6200000" cy="1900000"/>
          </a:xfrm>
          <a:prstGeom prst="roundRect">
            <a:avLst>
              <a:gd name="adj" fmla="val 10000"/>
            </a:avLst>
          </a:prstGeom>
          <a:solidFill>
            <a:srgbClr val="A84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5600000" y="8900000"/>
            <a:ext cx="6200000" cy="1900000"/>
          </a:xfrm>
          <a:prstGeom prst="rect">
            <a:avLst/>
          </a:prstGeom>
          <a:noFill/>
        </p:spPr>
        <p:txBody>
          <a:bodyPr wrap="square" lIns="250000" tIns="250000" rIns="250000" bIns="250000" anchor="t">
            <a:spAutoFit/>
          </a:bodyPr>
          <a:lstStyle/>
          <a:p>
            <a:r>
              <a:rPr sz="2200" b="1" i="0">
                <a:solidFill>
                  <a:srgbClr val="FFFFFF"/>
                </a:solidFill>
              </a:rPr>
              <a:t>Tests + Demo Runner</a:t>
            </a:r>
          </a:p>
          <a:p>
            <a:r>
              <a:rPr sz="1800" b="0" i="0">
                <a:solidFill>
                  <a:srgbClr val="F0F0F0"/>
                </a:solidFill>
              </a:rPr>
              <a:t>Pytest, Playwright, visible browser runs, and full-page screenshots.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00000" y="6750000"/>
            <a:ext cx="1200000" cy="0"/>
          </a:xfrm>
          <a:prstGeom prst="line">
            <a:avLst/>
          </a:prstGeom>
          <a:ln w="38100">
            <a:solidFill>
              <a:srgbClr val="C0562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500000" y="6750000"/>
            <a:ext cx="1200000" cy="0"/>
          </a:xfrm>
          <a:prstGeom prst="line">
            <a:avLst/>
          </a:prstGeom>
          <a:ln w="38100">
            <a:solidFill>
              <a:srgbClr val="C0562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0200000" y="7700000"/>
            <a:ext cx="600000" cy="1200000"/>
          </a:xfrm>
          <a:prstGeom prst="line">
            <a:avLst/>
          </a:prstGeom>
          <a:ln w="38100">
            <a:solidFill>
              <a:srgbClr val="C0562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400000" y="7700000"/>
            <a:ext cx="1300000" cy="1200000"/>
          </a:xfrm>
          <a:prstGeom prst="line">
            <a:avLst/>
          </a:prstGeom>
          <a:ln w="38100">
            <a:solidFill>
              <a:srgbClr val="C0562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2900000" y="9850000"/>
            <a:ext cx="2700000" cy="0"/>
          </a:xfrm>
          <a:prstGeom prst="line">
            <a:avLst/>
          </a:prstGeom>
          <a:ln w="38100">
            <a:solidFill>
              <a:srgbClr val="C0562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3774400" y="0"/>
            <a:ext cx="609600" cy="11176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3774400" y="11176000"/>
            <a:ext cx="609600" cy="2540000"/>
          </a:xfrm>
          <a:prstGeom prst="rect">
            <a:avLst/>
          </a:prstGeom>
          <a:solidFill>
            <a:srgbClr val="F5B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0000" y="900000"/>
            <a:ext cx="9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spc="200">
                <a:solidFill>
                  <a:srgbClr val="BF5700"/>
                </a:solidFill>
                <a:latin typeface="Arial"/>
              </a:rPr>
              <a:t>TEXAS ENGINEERING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00000" y="1320000"/>
            <a:ext cx="1900000" cy="0"/>
          </a:xfrm>
          <a:prstGeom prst="line">
            <a:avLst/>
          </a:prstGeom>
          <a:ln w="28575">
            <a:solidFill>
              <a:srgbClr val="BF5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00000" y="1800000"/>
            <a:ext cx="21984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5400" b="1">
                <a:solidFill>
                  <a:srgbClr val="1F2D3D"/>
                </a:solidFill>
              </a:rPr>
              <a:t>Features and workflow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0" y="0"/>
            <a:ext cx="609600" cy="11176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774400" y="11176000"/>
            <a:ext cx="609600" cy="2540000"/>
          </a:xfrm>
          <a:prstGeom prst="rect">
            <a:avLst/>
          </a:prstGeom>
          <a:solidFill>
            <a:srgbClr val="F5B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EF71578-5D8A-771F-F69D-4D1644872B60}"/>
              </a:ext>
            </a:extLst>
          </p:cNvPr>
          <p:cNvSpPr/>
          <p:nvPr/>
        </p:nvSpPr>
        <p:spPr>
          <a:xfrm>
            <a:off x="1500000" y="5600000"/>
            <a:ext cx="6800000" cy="2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21BE23-76C1-1281-97CD-D4C1278992AE}"/>
              </a:ext>
            </a:extLst>
          </p:cNvPr>
          <p:cNvSpPr txBox="1"/>
          <p:nvPr/>
        </p:nvSpPr>
        <p:spPr>
          <a:xfrm>
            <a:off x="1500000" y="5467593"/>
            <a:ext cx="6800000" cy="2780814"/>
          </a:xfrm>
          <a:prstGeom prst="rect">
            <a:avLst/>
          </a:prstGeom>
          <a:noFill/>
        </p:spPr>
        <p:txBody>
          <a:bodyPr wrap="square" lIns="300000" tIns="300000" rIns="300000" bIns="300000" anchor="t">
            <a:spAutoFit/>
          </a:bodyPr>
          <a:lstStyle/>
          <a:p>
            <a:r>
              <a:rPr sz="2400" b="1" i="0">
                <a:solidFill>
                  <a:srgbClr val="1F2D3D"/>
                </a:solidFill>
              </a:rPr>
              <a:t>1. Task workspace</a:t>
            </a:r>
          </a:p>
          <a:p>
            <a:endParaRPr sz="2400" b="1" i="0">
              <a:solidFill>
                <a:srgbClr val="1F2D3D"/>
              </a:solidFill>
            </a:endParaRP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2C3A47"/>
                </a:solidFill>
              </a:rPr>
              <a:t>Create new tasks and edit existing ones from the same form.</a:t>
            </a:r>
          </a:p>
          <a:p>
            <a:endParaRPr sz="2000" b="0" i="0">
              <a:solidFill>
                <a:srgbClr val="2C3A47"/>
              </a:solidFill>
            </a:endParaRP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2C3A47"/>
                </a:solidFill>
              </a:rPr>
              <a:t>Keeps the app realistic enough for repeatable demos.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5D68B23-FD64-4E97-4759-11B93427AE27}"/>
              </a:ext>
            </a:extLst>
          </p:cNvPr>
          <p:cNvSpPr/>
          <p:nvPr/>
        </p:nvSpPr>
        <p:spPr>
          <a:xfrm>
            <a:off x="8900000" y="5600000"/>
            <a:ext cx="6800000" cy="2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3EA6D1-0C4B-0A8C-9229-72342B05DEEC}"/>
              </a:ext>
            </a:extLst>
          </p:cNvPr>
          <p:cNvSpPr txBox="1"/>
          <p:nvPr/>
        </p:nvSpPr>
        <p:spPr>
          <a:xfrm>
            <a:off x="8900000" y="5446112"/>
            <a:ext cx="6800000" cy="3088590"/>
          </a:xfrm>
          <a:prstGeom prst="rect">
            <a:avLst/>
          </a:prstGeom>
          <a:noFill/>
        </p:spPr>
        <p:txBody>
          <a:bodyPr wrap="square" lIns="300000" tIns="300000" rIns="300000" bIns="300000" anchor="t">
            <a:spAutoFit/>
          </a:bodyPr>
          <a:lstStyle/>
          <a:p>
            <a:r>
              <a:rPr sz="2400" b="1" i="0">
                <a:solidFill>
                  <a:srgbClr val="1F2D3D"/>
                </a:solidFill>
              </a:rPr>
              <a:t>2. Session fault control panel</a:t>
            </a:r>
          </a:p>
          <a:p>
            <a:endParaRPr sz="2400" b="1" i="0">
              <a:solidFill>
                <a:srgbClr val="1F2D3D"/>
              </a:solidFill>
            </a:endParaRP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2C3A47"/>
                </a:solidFill>
              </a:rPr>
              <a:t>Turn fault profiles on and off directly from the dashboard.</a:t>
            </a:r>
          </a:p>
          <a:p>
            <a:endParaRPr sz="2000" b="0" i="0">
              <a:solidFill>
                <a:srgbClr val="2C3A47"/>
              </a:solidFill>
            </a:endParaRP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2C3A47"/>
                </a:solidFill>
              </a:rPr>
              <a:t>One browser session can be buggy while another stays clean.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A5769C8-25A9-71A1-1917-D4DFBBE85A7D}"/>
              </a:ext>
            </a:extLst>
          </p:cNvPr>
          <p:cNvSpPr/>
          <p:nvPr/>
        </p:nvSpPr>
        <p:spPr>
          <a:xfrm>
            <a:off x="16300000" y="5600000"/>
            <a:ext cx="6800000" cy="2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FFCBEF-1D4F-E046-D638-88DB2BD4B744}"/>
              </a:ext>
            </a:extLst>
          </p:cNvPr>
          <p:cNvSpPr txBox="1"/>
          <p:nvPr/>
        </p:nvSpPr>
        <p:spPr>
          <a:xfrm>
            <a:off x="16290400" y="5467593"/>
            <a:ext cx="6800000" cy="2780814"/>
          </a:xfrm>
          <a:prstGeom prst="rect">
            <a:avLst/>
          </a:prstGeom>
          <a:noFill/>
        </p:spPr>
        <p:txBody>
          <a:bodyPr wrap="square" lIns="300000" tIns="300000" rIns="300000" bIns="300000" anchor="t">
            <a:spAutoFit/>
          </a:bodyPr>
          <a:lstStyle/>
          <a:p>
            <a:r>
              <a:rPr sz="2400" b="1" i="0" dirty="0">
                <a:solidFill>
                  <a:srgbClr val="1F2D3D"/>
                </a:solidFill>
              </a:rPr>
              <a:t>3. Demo presets</a:t>
            </a:r>
          </a:p>
          <a:p>
            <a:endParaRPr sz="2400" b="1" i="0" dirty="0">
              <a:solidFill>
                <a:srgbClr val="1F2D3D"/>
              </a:solidFill>
            </a:endParaRPr>
          </a:p>
          <a:p>
            <a:pPr>
              <a:spcBef>
                <a:spcPts val="1000"/>
              </a:spcBef>
            </a:pPr>
            <a:r>
              <a:rPr sz="2000" b="0" i="0" dirty="0">
                <a:solidFill>
                  <a:srgbClr val="2C3A47"/>
                </a:solidFill>
              </a:rPr>
              <a:t>Search, timing, and sorting presets activate grouped scenarios with one click.</a:t>
            </a:r>
          </a:p>
          <a:p>
            <a:endParaRPr sz="2000" b="0" i="0" dirty="0">
              <a:solidFill>
                <a:srgbClr val="2C3A47"/>
              </a:solidFill>
            </a:endParaRPr>
          </a:p>
          <a:p>
            <a:pPr>
              <a:spcBef>
                <a:spcPts val="600"/>
              </a:spcBef>
            </a:pPr>
            <a:r>
              <a:rPr sz="2000" b="0" i="0" dirty="0">
                <a:solidFill>
                  <a:srgbClr val="2C3A47"/>
                </a:solidFill>
              </a:rPr>
              <a:t>Makes the presentation flow much faster.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19AFD02-7640-25A6-C135-BB3574FAC812}"/>
              </a:ext>
            </a:extLst>
          </p:cNvPr>
          <p:cNvSpPr/>
          <p:nvPr/>
        </p:nvSpPr>
        <p:spPr>
          <a:xfrm>
            <a:off x="1500000" y="8800000"/>
            <a:ext cx="6800000" cy="2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BE9A2B-804A-065B-DE93-ACD92FC7F605}"/>
              </a:ext>
            </a:extLst>
          </p:cNvPr>
          <p:cNvSpPr txBox="1"/>
          <p:nvPr/>
        </p:nvSpPr>
        <p:spPr>
          <a:xfrm>
            <a:off x="1500000" y="8800000"/>
            <a:ext cx="6800000" cy="3088590"/>
          </a:xfrm>
          <a:prstGeom prst="rect">
            <a:avLst/>
          </a:prstGeom>
          <a:noFill/>
        </p:spPr>
        <p:txBody>
          <a:bodyPr wrap="square" lIns="300000" tIns="300000" rIns="300000" bIns="300000" anchor="t">
            <a:spAutoFit/>
          </a:bodyPr>
          <a:lstStyle/>
          <a:p>
            <a:r>
              <a:rPr sz="2400" b="1" i="0" dirty="0">
                <a:solidFill>
                  <a:srgbClr val="1F2D3D"/>
                </a:solidFill>
              </a:rPr>
              <a:t>4. Task board</a:t>
            </a:r>
          </a:p>
          <a:p>
            <a:endParaRPr sz="2400" b="1" i="0" dirty="0">
              <a:solidFill>
                <a:srgbClr val="1F2D3D"/>
              </a:solidFill>
            </a:endParaRPr>
          </a:p>
          <a:p>
            <a:pPr>
              <a:spcBef>
                <a:spcPts val="1000"/>
              </a:spcBef>
            </a:pPr>
            <a:r>
              <a:rPr sz="2000" b="0" i="0" dirty="0">
                <a:solidFill>
                  <a:srgbClr val="2C3A47"/>
                </a:solidFill>
              </a:rPr>
              <a:t>Shows completion state, overdue status, due time, and quick actions.</a:t>
            </a:r>
          </a:p>
          <a:p>
            <a:endParaRPr sz="2000" b="0" i="0" dirty="0">
              <a:solidFill>
                <a:srgbClr val="2C3A47"/>
              </a:solidFill>
            </a:endParaRPr>
          </a:p>
          <a:p>
            <a:pPr>
              <a:spcBef>
                <a:spcPts val="600"/>
              </a:spcBef>
            </a:pPr>
            <a:r>
              <a:rPr sz="2000" b="0" i="0" dirty="0">
                <a:solidFill>
                  <a:srgbClr val="2C3A47"/>
                </a:solidFill>
              </a:rPr>
              <a:t>Also gave us a clean place to validate edits and state changes.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7D5A2FE-AA40-3C25-7AA7-FE2C4F3CB35D}"/>
              </a:ext>
            </a:extLst>
          </p:cNvPr>
          <p:cNvSpPr/>
          <p:nvPr/>
        </p:nvSpPr>
        <p:spPr>
          <a:xfrm>
            <a:off x="8900000" y="8800000"/>
            <a:ext cx="6800000" cy="2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61317B-97AB-1BB0-06A9-A511DE344CC9}"/>
              </a:ext>
            </a:extLst>
          </p:cNvPr>
          <p:cNvSpPr txBox="1"/>
          <p:nvPr/>
        </p:nvSpPr>
        <p:spPr>
          <a:xfrm>
            <a:off x="8900000" y="8800000"/>
            <a:ext cx="6800000" cy="2780814"/>
          </a:xfrm>
          <a:prstGeom prst="rect">
            <a:avLst/>
          </a:prstGeom>
          <a:noFill/>
        </p:spPr>
        <p:txBody>
          <a:bodyPr wrap="square" lIns="300000" tIns="300000" rIns="300000" bIns="300000" anchor="t">
            <a:spAutoFit/>
          </a:bodyPr>
          <a:lstStyle/>
          <a:p>
            <a:r>
              <a:rPr sz="2400" b="1" i="0">
                <a:solidFill>
                  <a:srgbClr val="1F2D3D"/>
                </a:solidFill>
              </a:rPr>
              <a:t>5. Scroll restore</a:t>
            </a:r>
          </a:p>
          <a:p>
            <a:endParaRPr sz="2400" b="1" i="0">
              <a:solidFill>
                <a:srgbClr val="1F2D3D"/>
              </a:solidFill>
            </a:endParaRP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2C3A47"/>
                </a:solidFill>
              </a:rPr>
              <a:t>After clicks, the page returns to the same spot instead of jumping to the top.</a:t>
            </a:r>
          </a:p>
          <a:p>
            <a:endParaRPr sz="2000" b="0" i="0">
              <a:solidFill>
                <a:srgbClr val="2C3A47"/>
              </a:solidFill>
            </a:endParaRP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2C3A47"/>
                </a:solidFill>
              </a:rPr>
              <a:t>Small fix, big improvement during demos.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3869278-D4FB-8CE0-35C5-B3BE751F405B}"/>
              </a:ext>
            </a:extLst>
          </p:cNvPr>
          <p:cNvSpPr/>
          <p:nvPr/>
        </p:nvSpPr>
        <p:spPr>
          <a:xfrm>
            <a:off x="16300000" y="8800000"/>
            <a:ext cx="6800000" cy="2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55FB8F-C4E3-23CF-58BB-32F2883D75C6}"/>
              </a:ext>
            </a:extLst>
          </p:cNvPr>
          <p:cNvSpPr txBox="1"/>
          <p:nvPr/>
        </p:nvSpPr>
        <p:spPr>
          <a:xfrm>
            <a:off x="16300000" y="8800000"/>
            <a:ext cx="6800000" cy="2780814"/>
          </a:xfrm>
          <a:prstGeom prst="rect">
            <a:avLst/>
          </a:prstGeom>
          <a:noFill/>
        </p:spPr>
        <p:txBody>
          <a:bodyPr wrap="square" lIns="300000" tIns="300000" rIns="300000" bIns="300000" anchor="t">
            <a:spAutoFit/>
          </a:bodyPr>
          <a:lstStyle/>
          <a:p>
            <a:r>
              <a:rPr sz="2400" b="1" i="0">
                <a:solidFill>
                  <a:srgbClr val="1F2D3D"/>
                </a:solidFill>
              </a:rPr>
              <a:t>6. Full-page screenshot capture</a:t>
            </a:r>
          </a:p>
          <a:p>
            <a:endParaRPr sz="2400" b="1" i="0">
              <a:solidFill>
                <a:srgbClr val="1F2D3D"/>
              </a:solidFill>
            </a:endParaRP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2C3A47"/>
                </a:solidFill>
              </a:rPr>
              <a:t>Demo images now show the whole page after the app settles.</a:t>
            </a:r>
          </a:p>
          <a:p>
            <a:endParaRPr sz="2000" b="0" i="0">
              <a:solidFill>
                <a:srgbClr val="2C3A47"/>
              </a:solidFill>
            </a:endParaRP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2C3A47"/>
                </a:solidFill>
              </a:rPr>
              <a:t>That made the report and slides much more usable.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0000" y="900000"/>
            <a:ext cx="9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spc="200">
                <a:solidFill>
                  <a:srgbClr val="BF5700"/>
                </a:solidFill>
                <a:latin typeface="Arial"/>
              </a:rPr>
              <a:t>TEXAS ENGINEERING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00000" y="1320000"/>
            <a:ext cx="1900000" cy="0"/>
          </a:xfrm>
          <a:prstGeom prst="line">
            <a:avLst/>
          </a:prstGeom>
          <a:ln w="28575">
            <a:solidFill>
              <a:srgbClr val="BF5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00000" y="1800000"/>
            <a:ext cx="21984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5400" b="1">
                <a:solidFill>
                  <a:srgbClr val="1F2D3D"/>
                </a:solidFill>
              </a:rPr>
              <a:t>Faults and demo presets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0" y="0"/>
            <a:ext cx="609600" cy="11176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774400" y="11176000"/>
            <a:ext cx="609600" cy="2540000"/>
          </a:xfrm>
          <a:prstGeom prst="rect">
            <a:avLst/>
          </a:prstGeom>
          <a:solidFill>
            <a:srgbClr val="F5B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39646FB-7C21-A512-547C-E5DC8A64DAA8}"/>
              </a:ext>
            </a:extLst>
          </p:cNvPr>
          <p:cNvSpPr/>
          <p:nvPr/>
        </p:nvSpPr>
        <p:spPr>
          <a:xfrm>
            <a:off x="1500000" y="5599999"/>
            <a:ext cx="6800000" cy="755940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93F0D0-65C9-4EB9-7364-7373602769AE}"/>
              </a:ext>
            </a:extLst>
          </p:cNvPr>
          <p:cNvSpPr txBox="1"/>
          <p:nvPr/>
        </p:nvSpPr>
        <p:spPr>
          <a:xfrm>
            <a:off x="1524104" y="5756707"/>
            <a:ext cx="6800000" cy="4924990"/>
          </a:xfrm>
          <a:prstGeom prst="rect">
            <a:avLst/>
          </a:prstGeom>
          <a:noFill/>
        </p:spPr>
        <p:txBody>
          <a:bodyPr wrap="square" lIns="300000" tIns="300000" rIns="300000" bIns="300000" anchor="t">
            <a:spAutoFit/>
          </a:bodyPr>
          <a:lstStyle/>
          <a:p>
            <a:r>
              <a:rPr sz="3600" b="1" i="0">
                <a:solidFill>
                  <a:srgbClr val="1F2D3D"/>
                </a:solidFill>
              </a:rPr>
              <a:t>Fault profiles</a:t>
            </a:r>
          </a:p>
          <a:p>
            <a:endParaRPr sz="3600" b="1" i="0">
              <a:solidFill>
                <a:srgbClr val="1F2D3D"/>
              </a:solidFill>
            </a:endParaRPr>
          </a:p>
          <a:p>
            <a:r>
              <a:rPr sz="3200" b="0" i="0">
                <a:solidFill>
                  <a:srgbClr val="2C3A47"/>
                </a:solidFill>
              </a:rPr>
              <a:t>Slow UI</a:t>
            </a:r>
          </a:p>
          <a:p>
            <a:pPr>
              <a:spcBef>
                <a:spcPts val="400"/>
              </a:spcBef>
            </a:pPr>
            <a:r>
              <a:rPr sz="3200" b="0" i="0">
                <a:solidFill>
                  <a:srgbClr val="2C3A47"/>
                </a:solidFill>
              </a:rPr>
              <a:t>Duplicate create bug</a:t>
            </a:r>
          </a:p>
          <a:p>
            <a:pPr>
              <a:spcBef>
                <a:spcPts val="400"/>
              </a:spcBef>
            </a:pPr>
            <a:r>
              <a:rPr sz="3200" b="0" i="0">
                <a:solidFill>
                  <a:srgbClr val="2C3A47"/>
                </a:solidFill>
              </a:rPr>
              <a:t>Unstable sort bug</a:t>
            </a:r>
          </a:p>
          <a:p>
            <a:pPr>
              <a:spcBef>
                <a:spcPts val="400"/>
              </a:spcBef>
            </a:pPr>
            <a:r>
              <a:rPr sz="3200" b="0" i="0">
                <a:solidFill>
                  <a:srgbClr val="2C3A47"/>
                </a:solidFill>
              </a:rPr>
              <a:t>Search regression</a:t>
            </a:r>
          </a:p>
          <a:p>
            <a:pPr>
              <a:spcBef>
                <a:spcPts val="400"/>
              </a:spcBef>
            </a:pPr>
            <a:r>
              <a:rPr sz="3200" b="0" i="0">
                <a:solidFill>
                  <a:srgbClr val="2C3A47"/>
                </a:solidFill>
              </a:rPr>
              <a:t>Dashboard cache bug</a:t>
            </a:r>
          </a:p>
          <a:p>
            <a:pPr>
              <a:spcBef>
                <a:spcPts val="400"/>
              </a:spcBef>
            </a:pPr>
            <a:r>
              <a:rPr sz="3200" b="0" i="0">
                <a:solidFill>
                  <a:srgbClr val="2C3A47"/>
                </a:solidFill>
              </a:rPr>
              <a:t>Midnight boundary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0296556-DE7B-090E-241F-F40FF2FAF705}"/>
              </a:ext>
            </a:extLst>
          </p:cNvPr>
          <p:cNvSpPr/>
          <p:nvPr/>
        </p:nvSpPr>
        <p:spPr>
          <a:xfrm>
            <a:off x="8900000" y="5600000"/>
            <a:ext cx="6465896" cy="7559408"/>
          </a:xfrm>
          <a:prstGeom prst="roundRect">
            <a:avLst>
              <a:gd name="adj" fmla="val 12000"/>
            </a:avLst>
          </a:prstGeom>
          <a:solidFill>
            <a:srgbClr val="F0D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6F037C-3333-EE00-52F6-6004CB933CE6}"/>
              </a:ext>
            </a:extLst>
          </p:cNvPr>
          <p:cNvSpPr txBox="1"/>
          <p:nvPr/>
        </p:nvSpPr>
        <p:spPr>
          <a:xfrm>
            <a:off x="8890400" y="5756707"/>
            <a:ext cx="6800000" cy="4406900"/>
          </a:xfrm>
          <a:prstGeom prst="rect">
            <a:avLst/>
          </a:prstGeom>
          <a:noFill/>
        </p:spPr>
        <p:txBody>
          <a:bodyPr wrap="square" lIns="300000" tIns="300000" rIns="300000" bIns="300000" anchor="t">
            <a:spAutoFit/>
          </a:bodyPr>
          <a:lstStyle/>
          <a:p>
            <a:r>
              <a:rPr sz="3600" b="1" i="0" dirty="0">
                <a:solidFill>
                  <a:srgbClr val="1F2D3D"/>
                </a:solidFill>
              </a:rPr>
              <a:t>Preset examples</a:t>
            </a:r>
          </a:p>
          <a:p>
            <a:endParaRPr sz="3600" b="1" i="0" dirty="0">
              <a:solidFill>
                <a:srgbClr val="1F2D3D"/>
              </a:solidFill>
            </a:endParaRPr>
          </a:p>
          <a:p>
            <a:pPr>
              <a:spcBef>
                <a:spcPts val="600"/>
              </a:spcBef>
            </a:pPr>
            <a:r>
              <a:rPr sz="3200" b="0" i="0" dirty="0">
                <a:solidFill>
                  <a:srgbClr val="2C3A47"/>
                </a:solidFill>
              </a:rPr>
              <a:t>Search Demo → search regression</a:t>
            </a:r>
          </a:p>
          <a:p>
            <a:pPr>
              <a:spcBef>
                <a:spcPts val="600"/>
              </a:spcBef>
            </a:pPr>
            <a:r>
              <a:rPr sz="3200" b="0" i="0" dirty="0">
                <a:solidFill>
                  <a:srgbClr val="2C3A47"/>
                </a:solidFill>
              </a:rPr>
              <a:t>Timing Demo → slow UI + midnight boundary</a:t>
            </a:r>
          </a:p>
          <a:p>
            <a:pPr>
              <a:spcBef>
                <a:spcPts val="600"/>
              </a:spcBef>
            </a:pPr>
            <a:r>
              <a:rPr sz="3200" b="0" i="0" dirty="0">
                <a:solidFill>
                  <a:srgbClr val="2C3A47"/>
                </a:solidFill>
              </a:rPr>
              <a:t>Sorting Demo → unstable sort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91D4A97-3BB2-F072-DDAD-F4FD5EA846B9}"/>
              </a:ext>
            </a:extLst>
          </p:cNvPr>
          <p:cNvSpPr/>
          <p:nvPr/>
        </p:nvSpPr>
        <p:spPr>
          <a:xfrm>
            <a:off x="16300000" y="5600000"/>
            <a:ext cx="6584000" cy="73407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342399-4892-3AD4-B137-927C2BFC4890}"/>
              </a:ext>
            </a:extLst>
          </p:cNvPr>
          <p:cNvSpPr txBox="1"/>
          <p:nvPr/>
        </p:nvSpPr>
        <p:spPr>
          <a:xfrm>
            <a:off x="16192000" y="5756707"/>
            <a:ext cx="6800000" cy="3268127"/>
          </a:xfrm>
          <a:prstGeom prst="rect">
            <a:avLst/>
          </a:prstGeom>
          <a:noFill/>
        </p:spPr>
        <p:txBody>
          <a:bodyPr wrap="square" lIns="300000" tIns="300000" rIns="300000" bIns="300000" anchor="t">
            <a:spAutoFit/>
          </a:bodyPr>
          <a:lstStyle/>
          <a:p>
            <a:r>
              <a:rPr sz="3600" b="1" i="0" dirty="0">
                <a:solidFill>
                  <a:srgbClr val="1F2D3D"/>
                </a:solidFill>
              </a:rPr>
              <a:t>Why presets mattered</a:t>
            </a:r>
          </a:p>
          <a:p>
            <a:endParaRPr sz="3600" b="1" i="0" dirty="0">
              <a:solidFill>
                <a:srgbClr val="1F2D3D"/>
              </a:solidFill>
            </a:endParaRPr>
          </a:p>
          <a:p>
            <a:pPr>
              <a:spcBef>
                <a:spcPts val="600"/>
              </a:spcBef>
            </a:pPr>
            <a:r>
              <a:rPr sz="3200" b="0" i="0" dirty="0">
                <a:solidFill>
                  <a:srgbClr val="2C3A47"/>
                </a:solidFill>
              </a:rPr>
              <a:t>They let me show a full scenario quickly instead of toggling multiple bugs manually every time.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0000" y="900000"/>
            <a:ext cx="9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spc="200">
                <a:solidFill>
                  <a:srgbClr val="BF5700"/>
                </a:solidFill>
                <a:latin typeface="Arial"/>
              </a:rPr>
              <a:t>TEXAS ENGINEERING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00000" y="1320000"/>
            <a:ext cx="1900000" cy="0"/>
          </a:xfrm>
          <a:prstGeom prst="line">
            <a:avLst/>
          </a:prstGeom>
          <a:ln w="28575">
            <a:solidFill>
              <a:srgbClr val="BF5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00000" y="1800000"/>
            <a:ext cx="21984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5400" b="1">
                <a:solidFill>
                  <a:srgbClr val="1F2D3D"/>
                </a:solidFill>
              </a:rPr>
              <a:t>Testing strategy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0" y="0"/>
            <a:ext cx="609600" cy="11176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3774400" y="11176000"/>
            <a:ext cx="609600" cy="2540000"/>
          </a:xfrm>
          <a:prstGeom prst="rect">
            <a:avLst/>
          </a:prstGeom>
          <a:solidFill>
            <a:srgbClr val="F5B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B07A5BBC-F900-BB27-B519-EC288048173C}"/>
              </a:ext>
            </a:extLst>
          </p:cNvPr>
          <p:cNvSpPr/>
          <p:nvPr/>
        </p:nvSpPr>
        <p:spPr>
          <a:xfrm>
            <a:off x="1500000" y="6000000"/>
            <a:ext cx="4800000" cy="2100000"/>
          </a:xfrm>
          <a:prstGeom prst="roundRect">
            <a:avLst>
              <a:gd name="adj" fmla="val 10000"/>
            </a:avLst>
          </a:prstGeom>
          <a:solidFill>
            <a:srgbClr val="2D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B0BFCF-F09D-1735-C281-AB48CA3C9CEA}"/>
              </a:ext>
            </a:extLst>
          </p:cNvPr>
          <p:cNvSpPr txBox="1"/>
          <p:nvPr/>
        </p:nvSpPr>
        <p:spPr>
          <a:xfrm>
            <a:off x="1500000" y="6000000"/>
            <a:ext cx="4800000" cy="2100000"/>
          </a:xfrm>
          <a:prstGeom prst="rect">
            <a:avLst/>
          </a:prstGeom>
          <a:noFill/>
        </p:spPr>
        <p:txBody>
          <a:bodyPr wrap="square" lIns="250000" tIns="250000" rIns="250000" bIns="250000" anchor="t">
            <a:spAutoFit/>
          </a:bodyPr>
          <a:lstStyle/>
          <a:p>
            <a:r>
              <a:rPr sz="2200" b="1" i="0" dirty="0">
                <a:solidFill>
                  <a:srgbClr val="FFFFFF"/>
                </a:solidFill>
              </a:rPr>
              <a:t>API tests</a:t>
            </a:r>
          </a:p>
          <a:p>
            <a:r>
              <a:rPr sz="1800" b="0" i="0" dirty="0">
                <a:solidFill>
                  <a:srgbClr val="F0F0F0"/>
                </a:solidFill>
              </a:rPr>
              <a:t>Fast checks for task creation, updates, fault isolation, and preset behavior.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5FF2667-5FDF-F1EE-5969-3DE076F2F1ED}"/>
              </a:ext>
            </a:extLst>
          </p:cNvPr>
          <p:cNvSpPr/>
          <p:nvPr/>
        </p:nvSpPr>
        <p:spPr>
          <a:xfrm>
            <a:off x="7000000" y="6000000"/>
            <a:ext cx="4800000" cy="2100000"/>
          </a:xfrm>
          <a:prstGeom prst="roundRect">
            <a:avLst>
              <a:gd name="adj" fmla="val 10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178174-D62D-1CAB-4724-149AC0F0B1F8}"/>
              </a:ext>
            </a:extLst>
          </p:cNvPr>
          <p:cNvSpPr txBox="1"/>
          <p:nvPr/>
        </p:nvSpPr>
        <p:spPr>
          <a:xfrm>
            <a:off x="7000000" y="6000000"/>
            <a:ext cx="4800000" cy="2100000"/>
          </a:xfrm>
          <a:prstGeom prst="rect">
            <a:avLst/>
          </a:prstGeom>
          <a:noFill/>
        </p:spPr>
        <p:txBody>
          <a:bodyPr wrap="square" lIns="250000" tIns="250000" rIns="250000" bIns="250000" anchor="t">
            <a:spAutoFit/>
          </a:bodyPr>
          <a:lstStyle/>
          <a:p>
            <a:r>
              <a:rPr sz="2200" b="1" i="0" dirty="0">
                <a:solidFill>
                  <a:srgbClr val="FFFFFF"/>
                </a:solidFill>
              </a:rPr>
              <a:t>UI tests</a:t>
            </a:r>
          </a:p>
          <a:p>
            <a:r>
              <a:rPr sz="1800" b="0" i="0" dirty="0">
                <a:solidFill>
                  <a:srgbClr val="F0F0F0"/>
                </a:solidFill>
              </a:rPr>
              <a:t>Playwright confirms the real page can create, edit, search, and show bugs.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645ABE5-D621-9836-4E27-A356A45A6C10}"/>
              </a:ext>
            </a:extLst>
          </p:cNvPr>
          <p:cNvSpPr/>
          <p:nvPr/>
        </p:nvSpPr>
        <p:spPr>
          <a:xfrm>
            <a:off x="12500000" y="6000000"/>
            <a:ext cx="4800000" cy="2100000"/>
          </a:xfrm>
          <a:prstGeom prst="roundRect">
            <a:avLst>
              <a:gd name="adj" fmla="val 10000"/>
            </a:avLst>
          </a:prstGeom>
          <a:solidFill>
            <a:srgbClr val="6B9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6B92F6-5FDD-9F07-2FD0-FB84F62F74B2}"/>
              </a:ext>
            </a:extLst>
          </p:cNvPr>
          <p:cNvSpPr txBox="1"/>
          <p:nvPr/>
        </p:nvSpPr>
        <p:spPr>
          <a:xfrm>
            <a:off x="12500000" y="6000000"/>
            <a:ext cx="4800000" cy="1397435"/>
          </a:xfrm>
          <a:prstGeom prst="rect">
            <a:avLst/>
          </a:prstGeom>
          <a:noFill/>
        </p:spPr>
        <p:txBody>
          <a:bodyPr wrap="square" lIns="250000" tIns="250000" rIns="250000" bIns="250000" anchor="t">
            <a:spAutoFit/>
          </a:bodyPr>
          <a:lstStyle/>
          <a:p>
            <a:r>
              <a:rPr sz="2200" b="1" i="0" dirty="0">
                <a:solidFill>
                  <a:srgbClr val="FFFFFF"/>
                </a:solidFill>
              </a:rPr>
              <a:t>Visible demo run</a:t>
            </a:r>
          </a:p>
          <a:p>
            <a:r>
              <a:rPr sz="1800" b="0" i="0" dirty="0">
                <a:solidFill>
                  <a:srgbClr val="F0F0F0"/>
                </a:solidFill>
              </a:rPr>
              <a:t>Walks through scenarios in a browser</a:t>
            </a:r>
            <a:r>
              <a:rPr lang="en-US" sz="1800" b="0" i="0" dirty="0">
                <a:solidFill>
                  <a:srgbClr val="F0F0F0"/>
                </a:solidFill>
              </a:rPr>
              <a:t> with live tests.</a:t>
            </a:r>
            <a:endParaRPr sz="1800" b="0" i="0" dirty="0">
              <a:solidFill>
                <a:srgbClr val="F0F0F0"/>
              </a:solidFill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29C76CB-9C9A-FB35-8E42-485477348A4D}"/>
              </a:ext>
            </a:extLst>
          </p:cNvPr>
          <p:cNvSpPr/>
          <p:nvPr/>
        </p:nvSpPr>
        <p:spPr>
          <a:xfrm>
            <a:off x="7200000" y="9300000"/>
            <a:ext cx="6200000" cy="2100000"/>
          </a:xfrm>
          <a:prstGeom prst="roundRect">
            <a:avLst>
              <a:gd name="adj" fmla="val 10000"/>
            </a:avLst>
          </a:prstGeom>
          <a:solidFill>
            <a:srgbClr val="5A7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C86E27-960F-389C-C3F8-F6384F7ED637}"/>
              </a:ext>
            </a:extLst>
          </p:cNvPr>
          <p:cNvSpPr txBox="1"/>
          <p:nvPr/>
        </p:nvSpPr>
        <p:spPr>
          <a:xfrm>
            <a:off x="7200000" y="9300000"/>
            <a:ext cx="6200000" cy="1120436"/>
          </a:xfrm>
          <a:prstGeom prst="rect">
            <a:avLst/>
          </a:prstGeom>
          <a:noFill/>
        </p:spPr>
        <p:txBody>
          <a:bodyPr wrap="square" lIns="250000" tIns="250000" rIns="250000" bIns="250000" anchor="t">
            <a:spAutoFit/>
          </a:bodyPr>
          <a:lstStyle/>
          <a:p>
            <a:r>
              <a:rPr sz="2200" b="1" i="0" dirty="0">
                <a:solidFill>
                  <a:srgbClr val="FFFFFF"/>
                </a:solidFill>
              </a:rPr>
              <a:t>Shared goal</a:t>
            </a:r>
          </a:p>
          <a:p>
            <a:r>
              <a:rPr sz="1800" b="0" i="0" dirty="0">
                <a:solidFill>
                  <a:srgbClr val="F0F0F0"/>
                </a:solidFill>
              </a:rPr>
              <a:t>Make sure the same project works as code, as tests,</a:t>
            </a:r>
          </a:p>
        </p:txBody>
      </p:sp>
      <p:cxnSp>
        <p:nvCxnSpPr>
          <p:cNvPr id="43" name="Connector 13">
            <a:extLst>
              <a:ext uri="{FF2B5EF4-FFF2-40B4-BE49-F238E27FC236}">
                <a16:creationId xmlns:a16="http://schemas.microsoft.com/office/drawing/2014/main" id="{228F85A8-4178-7CBF-CAE1-77A7CF0D36C0}"/>
              </a:ext>
            </a:extLst>
          </p:cNvPr>
          <p:cNvCxnSpPr/>
          <p:nvPr/>
        </p:nvCxnSpPr>
        <p:spPr>
          <a:xfrm>
            <a:off x="6300000" y="7050000"/>
            <a:ext cx="700000" cy="0"/>
          </a:xfrm>
          <a:prstGeom prst="line">
            <a:avLst/>
          </a:prstGeom>
          <a:ln w="38100">
            <a:solidFill>
              <a:srgbClr val="C0562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14">
            <a:extLst>
              <a:ext uri="{FF2B5EF4-FFF2-40B4-BE49-F238E27FC236}">
                <a16:creationId xmlns:a16="http://schemas.microsoft.com/office/drawing/2014/main" id="{9D21FB2A-1B36-9406-69A0-A92387FFE5BD}"/>
              </a:ext>
            </a:extLst>
          </p:cNvPr>
          <p:cNvCxnSpPr/>
          <p:nvPr/>
        </p:nvCxnSpPr>
        <p:spPr>
          <a:xfrm>
            <a:off x="11800000" y="7050000"/>
            <a:ext cx="700000" cy="0"/>
          </a:xfrm>
          <a:prstGeom prst="line">
            <a:avLst/>
          </a:prstGeom>
          <a:ln w="38100">
            <a:solidFill>
              <a:srgbClr val="C0562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15">
            <a:extLst>
              <a:ext uri="{FF2B5EF4-FFF2-40B4-BE49-F238E27FC236}">
                <a16:creationId xmlns:a16="http://schemas.microsoft.com/office/drawing/2014/main" id="{F63D8942-39EA-8EF5-CBA3-590F3F1425A5}"/>
              </a:ext>
            </a:extLst>
          </p:cNvPr>
          <p:cNvCxnSpPr/>
          <p:nvPr/>
        </p:nvCxnSpPr>
        <p:spPr>
          <a:xfrm flipH="1">
            <a:off x="9266666" y="8100000"/>
            <a:ext cx="133334" cy="1200000"/>
          </a:xfrm>
          <a:prstGeom prst="line">
            <a:avLst/>
          </a:prstGeom>
          <a:ln w="38100">
            <a:solidFill>
              <a:srgbClr val="C0562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16">
            <a:extLst>
              <a:ext uri="{FF2B5EF4-FFF2-40B4-BE49-F238E27FC236}">
                <a16:creationId xmlns:a16="http://schemas.microsoft.com/office/drawing/2014/main" id="{0AC065DC-6135-31D3-C820-4C2BF039A8AA}"/>
              </a:ext>
            </a:extLst>
          </p:cNvPr>
          <p:cNvCxnSpPr/>
          <p:nvPr/>
        </p:nvCxnSpPr>
        <p:spPr>
          <a:xfrm flipH="1">
            <a:off x="11333333" y="8100000"/>
            <a:ext cx="3566667" cy="1200000"/>
          </a:xfrm>
          <a:prstGeom prst="line">
            <a:avLst/>
          </a:prstGeom>
          <a:ln w="38100">
            <a:solidFill>
              <a:srgbClr val="C05621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C671926-8CC8-E4BD-26A8-AEC703722929}"/>
              </a:ext>
            </a:extLst>
          </p:cNvPr>
          <p:cNvSpPr txBox="1"/>
          <p:nvPr/>
        </p:nvSpPr>
        <p:spPr>
          <a:xfrm>
            <a:off x="17900000" y="6000000"/>
            <a:ext cx="4984000" cy="6043932"/>
          </a:xfrm>
          <a:prstGeom prst="rect">
            <a:avLst/>
          </a:prstGeom>
          <a:noFill/>
        </p:spPr>
        <p:txBody>
          <a:bodyPr wrap="square" lIns="120000" tIns="120000" rIns="120000" bIns="120000" anchor="t">
            <a:spAutoFit/>
          </a:bodyPr>
          <a:lstStyle/>
          <a:p>
            <a:r>
              <a:rPr sz="3200" b="1" i="0" dirty="0">
                <a:solidFill>
                  <a:srgbClr val="1F2D3D"/>
                </a:solidFill>
              </a:rPr>
              <a:t>Automated checks that passed in the final version:</a:t>
            </a:r>
          </a:p>
          <a:p>
            <a:endParaRPr sz="3200" b="1" i="0" dirty="0">
              <a:solidFill>
                <a:srgbClr val="1F2D3D"/>
              </a:solidFill>
            </a:endParaRPr>
          </a:p>
          <a:p>
            <a:pPr>
              <a:spcBef>
                <a:spcPts val="1200"/>
              </a:spcBef>
            </a:pPr>
            <a:r>
              <a:rPr sz="2800" b="1" i="0" dirty="0">
                <a:solidFill>
                  <a:srgbClr val="BF5700"/>
                </a:solidFill>
              </a:rPr>
              <a:t>• 9 API tests</a:t>
            </a:r>
          </a:p>
          <a:p>
            <a:pPr>
              <a:spcBef>
                <a:spcPts val="400"/>
              </a:spcBef>
            </a:pPr>
            <a:r>
              <a:rPr sz="2400" b="0" i="0" dirty="0">
                <a:solidFill>
                  <a:srgbClr val="2C3A47"/>
                </a:solidFill>
              </a:rPr>
              <a:t>session faults, updates, presets, duplicate create, search behavior, and boundary logic.</a:t>
            </a:r>
          </a:p>
          <a:p>
            <a:endParaRPr sz="2400" b="0" i="0" dirty="0">
              <a:solidFill>
                <a:srgbClr val="2C3A47"/>
              </a:solidFill>
            </a:endParaRPr>
          </a:p>
          <a:p>
            <a:pPr>
              <a:spcBef>
                <a:spcPts val="1000"/>
              </a:spcBef>
            </a:pPr>
            <a:r>
              <a:rPr sz="2800" b="1" i="0" dirty="0">
                <a:solidFill>
                  <a:srgbClr val="BF5700"/>
                </a:solidFill>
              </a:rPr>
              <a:t>• 4 UI tests</a:t>
            </a:r>
          </a:p>
          <a:p>
            <a:pPr>
              <a:spcBef>
                <a:spcPts val="400"/>
              </a:spcBef>
            </a:pPr>
            <a:r>
              <a:rPr sz="2400" b="0" i="0" dirty="0">
                <a:solidFill>
                  <a:srgbClr val="2C3A47"/>
                </a:solidFill>
              </a:rPr>
              <a:t>happy path, edit flow, duplicate bug visibility, and preset-based search failure.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0000" y="900000"/>
            <a:ext cx="9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spc="200">
                <a:solidFill>
                  <a:srgbClr val="BF5700"/>
                </a:solidFill>
                <a:latin typeface="Arial"/>
              </a:rPr>
              <a:t>TEXAS ENGINEERING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00000" y="1320000"/>
            <a:ext cx="1900000" cy="0"/>
          </a:xfrm>
          <a:prstGeom prst="line">
            <a:avLst/>
          </a:prstGeom>
          <a:ln w="28575">
            <a:solidFill>
              <a:srgbClr val="BF5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00000" y="1800000"/>
            <a:ext cx="21984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5400" b="1">
                <a:solidFill>
                  <a:srgbClr val="1F2D3D"/>
                </a:solidFill>
              </a:rPr>
              <a:t>Reproducibility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00000" y="5700000"/>
            <a:ext cx="6800000" cy="5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1500000" y="5700000"/>
            <a:ext cx="6800000" cy="5821056"/>
          </a:xfrm>
          <a:prstGeom prst="rect">
            <a:avLst/>
          </a:prstGeom>
          <a:noFill/>
        </p:spPr>
        <p:txBody>
          <a:bodyPr wrap="square" lIns="350000" tIns="350000" rIns="350000" bIns="350000" anchor="t">
            <a:spAutoFit/>
          </a:bodyPr>
          <a:lstStyle/>
          <a:p>
            <a:r>
              <a:rPr sz="6000" b="1" i="0">
                <a:solidFill>
                  <a:srgbClr val="BF5700"/>
                </a:solidFill>
              </a:rPr>
              <a:t>01</a:t>
            </a:r>
          </a:p>
          <a:p>
            <a:pPr>
              <a:spcBef>
                <a:spcPts val="200"/>
              </a:spcBef>
            </a:pPr>
            <a:r>
              <a:rPr sz="3600" b="1" i="0">
                <a:solidFill>
                  <a:srgbClr val="1F2D3D"/>
                </a:solidFill>
              </a:rPr>
              <a:t>Frozen clock</a:t>
            </a:r>
          </a:p>
          <a:p>
            <a:endParaRPr sz="3600" b="1" i="0">
              <a:solidFill>
                <a:srgbClr val="1F2D3D"/>
              </a:solidFill>
            </a:endParaRP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6B7280"/>
                </a:solidFill>
              </a:rPr>
              <a:t>Set in the test env: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2D3E50"/>
                </a:solidFill>
              </a:rPr>
              <a:t>TIMEBOX_FIXED_NOW = 2026-04-17T12:00:00</a:t>
            </a:r>
          </a:p>
          <a:p>
            <a:endParaRPr sz="2000" b="1" i="0">
              <a:solidFill>
                <a:srgbClr val="2D3E50"/>
              </a:solidFill>
            </a:endParaRPr>
          </a:p>
          <a:p>
            <a:pPr>
              <a:spcBef>
                <a:spcPts val="1400"/>
              </a:spcBef>
            </a:pPr>
            <a:r>
              <a:rPr sz="2800" b="0" i="0">
                <a:solidFill>
                  <a:srgbClr val="2C3A47"/>
                </a:solidFill>
              </a:rPr>
              <a:t>Pins the app's view of "now" so due-date logic and the midnight-boundary fault produce identical results every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0000" y="5700000"/>
            <a:ext cx="6800000" cy="5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8900000" y="5700000"/>
            <a:ext cx="6800000" cy="6154481"/>
          </a:xfrm>
          <a:prstGeom prst="rect">
            <a:avLst/>
          </a:prstGeom>
          <a:noFill/>
        </p:spPr>
        <p:txBody>
          <a:bodyPr wrap="square" lIns="350000" tIns="350000" rIns="350000" bIns="350000" anchor="t">
            <a:spAutoFit/>
          </a:bodyPr>
          <a:lstStyle/>
          <a:p>
            <a:r>
              <a:rPr sz="6000" b="1" i="0">
                <a:solidFill>
                  <a:srgbClr val="6B9080"/>
                </a:solidFill>
              </a:rPr>
              <a:t>02</a:t>
            </a:r>
          </a:p>
          <a:p>
            <a:pPr>
              <a:spcBef>
                <a:spcPts val="200"/>
              </a:spcBef>
            </a:pPr>
            <a:r>
              <a:rPr sz="3600" b="1" i="0">
                <a:solidFill>
                  <a:srgbClr val="1F2D3D"/>
                </a:solidFill>
              </a:rPr>
              <a:t>Reset hooks</a:t>
            </a:r>
          </a:p>
          <a:p>
            <a:endParaRPr sz="3600" b="1" i="0">
              <a:solidFill>
                <a:srgbClr val="1F2D3D"/>
              </a:solidFill>
            </a:endParaRP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6B7280"/>
                </a:solidFill>
              </a:rPr>
              <a:t>Called in every pytest fixture: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2D3E50"/>
                </a:solidFill>
              </a:rPr>
              <a:t>reset_db()</a:t>
            </a:r>
          </a:p>
          <a:p>
            <a:pPr>
              <a:spcBef>
                <a:spcPts val="200"/>
              </a:spcBef>
            </a:pPr>
            <a:r>
              <a:rPr sz="2000" b="1" i="0">
                <a:solidFill>
                  <a:srgbClr val="2D3E50"/>
                </a:solidFill>
              </a:rPr>
              <a:t>reset_fault_profile()</a:t>
            </a:r>
          </a:p>
          <a:p>
            <a:endParaRPr sz="2000" b="1" i="0">
              <a:solidFill>
                <a:srgbClr val="2D3E50"/>
              </a:solidFill>
            </a:endParaRPr>
          </a:p>
          <a:p>
            <a:pPr>
              <a:spcBef>
                <a:spcPts val="1400"/>
              </a:spcBef>
            </a:pPr>
            <a:r>
              <a:rPr sz="2800" b="0" i="0">
                <a:solidFill>
                  <a:srgbClr val="2C3A47"/>
                </a:solidFill>
              </a:rPr>
              <a:t>Each test starts from a clean database and a clean fault profile, so order-of-execution never changes the outcome.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300000" y="5700000"/>
            <a:ext cx="6800000" cy="5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16300000" y="5700000"/>
            <a:ext cx="6800000" cy="5697946"/>
          </a:xfrm>
          <a:prstGeom prst="rect">
            <a:avLst/>
          </a:prstGeom>
          <a:noFill/>
        </p:spPr>
        <p:txBody>
          <a:bodyPr wrap="square" lIns="350000" tIns="350000" rIns="350000" bIns="350000" anchor="t">
            <a:spAutoFit/>
          </a:bodyPr>
          <a:lstStyle/>
          <a:p>
            <a:r>
              <a:rPr sz="6000" b="1" i="0">
                <a:solidFill>
                  <a:srgbClr val="5A7CA6"/>
                </a:solidFill>
              </a:rPr>
              <a:t>03</a:t>
            </a:r>
          </a:p>
          <a:p>
            <a:pPr>
              <a:spcBef>
                <a:spcPts val="200"/>
              </a:spcBef>
            </a:pPr>
            <a:r>
              <a:rPr sz="3600" b="1" i="0">
                <a:solidFill>
                  <a:srgbClr val="1F2D3D"/>
                </a:solidFill>
              </a:rPr>
              <a:t>Session isolation</a:t>
            </a:r>
          </a:p>
          <a:p>
            <a:endParaRPr sz="3600" b="1" i="0">
              <a:solidFill>
                <a:srgbClr val="1F2D3D"/>
              </a:solidFill>
            </a:endParaRP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6B7280"/>
                </a:solidFill>
              </a:rPr>
              <a:t>Verified by a dedicated test:</a:t>
            </a:r>
          </a:p>
          <a:p>
            <a:pPr>
              <a:spcBef>
                <a:spcPts val="400"/>
              </a:spcBef>
            </a:pPr>
            <a:r>
              <a:rPr sz="2000" b="1" i="0">
                <a:solidFill>
                  <a:srgbClr val="2D3E50"/>
                </a:solidFill>
              </a:rPr>
              <a:t>test_fault_profiles_are_</a:t>
            </a:r>
          </a:p>
          <a:p>
            <a:r>
              <a:rPr sz="2000" b="1" i="0">
                <a:solidFill>
                  <a:srgbClr val="2D3E50"/>
                </a:solidFill>
              </a:rPr>
              <a:t>isolated_per_session</a:t>
            </a:r>
          </a:p>
          <a:p>
            <a:endParaRPr sz="2000" b="1" i="0">
              <a:solidFill>
                <a:srgbClr val="2D3E50"/>
              </a:solidFill>
            </a:endParaRPr>
          </a:p>
          <a:p>
            <a:pPr>
              <a:spcBef>
                <a:spcPts val="1400"/>
              </a:spcBef>
            </a:pPr>
            <a:r>
              <a:rPr sz="2800" b="0" i="0">
                <a:solidFill>
                  <a:srgbClr val="2C3A47"/>
                </a:solidFill>
              </a:rPr>
              <a:t>Two TestClient instances, two signed session cookies. One client's active faults never leak into the other's 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0" y="0"/>
            <a:ext cx="609600" cy="11176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774400" y="11176000"/>
            <a:ext cx="609600" cy="2540000"/>
          </a:xfrm>
          <a:prstGeom prst="rect">
            <a:avLst/>
          </a:prstGeom>
          <a:solidFill>
            <a:srgbClr val="F5B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0000" y="900000"/>
            <a:ext cx="9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spc="200">
                <a:solidFill>
                  <a:srgbClr val="BF5700"/>
                </a:solidFill>
                <a:latin typeface="Arial"/>
              </a:rPr>
              <a:t>TEXAS ENGINEERING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00000" y="1320000"/>
            <a:ext cx="1900000" cy="0"/>
          </a:xfrm>
          <a:prstGeom prst="line">
            <a:avLst/>
          </a:prstGeom>
          <a:ln w="28575">
            <a:solidFill>
              <a:srgbClr val="BF5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00000" y="1800000"/>
            <a:ext cx="21984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5400" b="1">
                <a:solidFill>
                  <a:srgbClr val="1F2D3D"/>
                </a:solidFill>
              </a:rPr>
              <a:t>Test coverage breakdown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00000" y="3878918"/>
            <a:ext cx="10800000" cy="842108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1200000" y="3896139"/>
            <a:ext cx="10800000" cy="8230357"/>
          </a:xfrm>
          <a:prstGeom prst="rect">
            <a:avLst/>
          </a:prstGeom>
          <a:noFill/>
        </p:spPr>
        <p:txBody>
          <a:bodyPr wrap="square" lIns="400000" tIns="400000" rIns="400000" bIns="400000" anchor="t">
            <a:spAutoFit/>
          </a:bodyPr>
          <a:lstStyle/>
          <a:p>
            <a:r>
              <a:rPr sz="3600" b="1" i="0" dirty="0">
                <a:solidFill>
                  <a:srgbClr val="1F2D3D"/>
                </a:solidFill>
              </a:rPr>
              <a:t>API tests</a:t>
            </a:r>
          </a:p>
          <a:p>
            <a:pPr>
              <a:spcBef>
                <a:spcPts val="200"/>
              </a:spcBef>
            </a:pPr>
            <a:r>
              <a:rPr sz="2000" b="0" i="0" dirty="0">
                <a:solidFill>
                  <a:srgbClr val="6B7280"/>
                </a:solidFill>
              </a:rPr>
              <a:t>9 tests • tests/</a:t>
            </a:r>
            <a:r>
              <a:rPr sz="2000" b="0" i="0" dirty="0" err="1">
                <a:solidFill>
                  <a:srgbClr val="6B7280"/>
                </a:solidFill>
              </a:rPr>
              <a:t>test_api.py</a:t>
            </a:r>
            <a:endParaRPr sz="2000" b="0" i="0" dirty="0">
              <a:solidFill>
                <a:srgbClr val="6B7280"/>
              </a:solidFill>
            </a:endParaRPr>
          </a:p>
          <a:p>
            <a:endParaRPr sz="2000" b="0" i="0" dirty="0">
              <a:solidFill>
                <a:srgbClr val="6B7280"/>
              </a:solidFill>
            </a:endParaRPr>
          </a:p>
          <a:p>
            <a:pPr>
              <a:spcBef>
                <a:spcPts val="1400"/>
              </a:spcBef>
            </a:pPr>
            <a:r>
              <a:rPr sz="2800" b="1" i="0" dirty="0">
                <a:solidFill>
                  <a:srgbClr val="BF5700"/>
                </a:solidFill>
              </a:rPr>
              <a:t>Auth</a:t>
            </a:r>
          </a:p>
          <a:p>
            <a:pPr>
              <a:spcBef>
                <a:spcPts val="300"/>
              </a:spcBef>
            </a:pPr>
            <a:r>
              <a:rPr sz="2000" b="0" i="0" dirty="0">
                <a:solidFill>
                  <a:srgbClr val="2C3A47"/>
                </a:solidFill>
              </a:rPr>
              <a:t>Unauthorized request to /</a:t>
            </a:r>
            <a:r>
              <a:rPr sz="2000" b="0" i="0" dirty="0" err="1">
                <a:solidFill>
                  <a:srgbClr val="2C3A47"/>
                </a:solidFill>
              </a:rPr>
              <a:t>api</a:t>
            </a:r>
            <a:r>
              <a:rPr sz="2000" b="0" i="0" dirty="0">
                <a:solidFill>
                  <a:srgbClr val="2C3A47"/>
                </a:solidFill>
              </a:rPr>
              <a:t>/tasks returns 401.</a:t>
            </a:r>
          </a:p>
          <a:p>
            <a:pPr>
              <a:spcBef>
                <a:spcPts val="1200"/>
              </a:spcBef>
            </a:pPr>
            <a:r>
              <a:rPr sz="2800" b="1" i="0" dirty="0">
                <a:solidFill>
                  <a:srgbClr val="BF5700"/>
                </a:solidFill>
              </a:rPr>
              <a:t>Validation</a:t>
            </a:r>
          </a:p>
          <a:p>
            <a:pPr>
              <a:spcBef>
                <a:spcPts val="300"/>
              </a:spcBef>
            </a:pPr>
            <a:r>
              <a:rPr sz="2000" b="0" i="0" dirty="0">
                <a:solidFill>
                  <a:srgbClr val="2C3A47"/>
                </a:solidFill>
              </a:rPr>
              <a:t>Empty task title rejected with 400.</a:t>
            </a:r>
          </a:p>
          <a:p>
            <a:pPr>
              <a:spcBef>
                <a:spcPts val="1200"/>
              </a:spcBef>
            </a:pPr>
            <a:r>
              <a:rPr sz="2800" b="1" i="0" dirty="0">
                <a:solidFill>
                  <a:srgbClr val="BF5700"/>
                </a:solidFill>
              </a:rPr>
              <a:t>CRUD</a:t>
            </a:r>
          </a:p>
          <a:p>
            <a:pPr>
              <a:spcBef>
                <a:spcPts val="300"/>
              </a:spcBef>
            </a:pPr>
            <a:r>
              <a:rPr sz="2000" b="0" i="0" dirty="0">
                <a:solidFill>
                  <a:srgbClr val="2C3A47"/>
                </a:solidFill>
              </a:rPr>
              <a:t>Create-then-read returns the task. Update via PUT changes title, description, and completion state.</a:t>
            </a:r>
          </a:p>
          <a:p>
            <a:pPr>
              <a:spcBef>
                <a:spcPts val="1200"/>
              </a:spcBef>
            </a:pPr>
            <a:r>
              <a:rPr sz="2800" b="1" i="0" dirty="0">
                <a:solidFill>
                  <a:srgbClr val="BF5700"/>
                </a:solidFill>
              </a:rPr>
              <a:t>Fault behavior</a:t>
            </a:r>
          </a:p>
          <a:p>
            <a:pPr>
              <a:spcBef>
                <a:spcPts val="300"/>
              </a:spcBef>
            </a:pPr>
            <a:r>
              <a:rPr sz="2000" b="0" i="0" dirty="0">
                <a:solidFill>
                  <a:srgbClr val="2C3A47"/>
                </a:solidFill>
              </a:rPr>
              <a:t>Duplicate create produces 2 rows. Search regression drops lowercase matches. Midnight boundary shifts status.</a:t>
            </a:r>
          </a:p>
          <a:p>
            <a:pPr>
              <a:spcBef>
                <a:spcPts val="1200"/>
              </a:spcBef>
            </a:pPr>
            <a:r>
              <a:rPr sz="2800" b="1" i="0" dirty="0">
                <a:solidFill>
                  <a:srgbClr val="BF5700"/>
                </a:solidFill>
              </a:rPr>
              <a:t>Session isolation</a:t>
            </a:r>
          </a:p>
          <a:p>
            <a:pPr>
              <a:spcBef>
                <a:spcPts val="300"/>
              </a:spcBef>
            </a:pPr>
            <a:r>
              <a:rPr sz="2000" b="0" i="0" dirty="0">
                <a:solidFill>
                  <a:srgbClr val="2C3A47"/>
                </a:solidFill>
              </a:rPr>
              <a:t>Two </a:t>
            </a:r>
            <a:r>
              <a:rPr sz="2000" b="0" i="0" dirty="0" err="1">
                <a:solidFill>
                  <a:srgbClr val="2C3A47"/>
                </a:solidFill>
              </a:rPr>
              <a:t>TestClient</a:t>
            </a:r>
            <a:r>
              <a:rPr sz="2000" b="0" i="0" dirty="0">
                <a:solidFill>
                  <a:srgbClr val="2C3A47"/>
                </a:solidFill>
              </a:rPr>
              <a:t> instances — client A's active faults stay invisible to client B.</a:t>
            </a:r>
          </a:p>
          <a:p>
            <a:pPr>
              <a:spcBef>
                <a:spcPts val="1200"/>
              </a:spcBef>
            </a:pPr>
            <a:r>
              <a:rPr sz="2800" b="1" i="0" dirty="0">
                <a:solidFill>
                  <a:srgbClr val="BF5700"/>
                </a:solidFill>
              </a:rPr>
              <a:t>Preset semantics</a:t>
            </a:r>
          </a:p>
          <a:p>
            <a:pPr>
              <a:spcBef>
                <a:spcPts val="300"/>
              </a:spcBef>
            </a:pPr>
            <a:r>
              <a:rPr sz="2000" b="0" i="0" dirty="0">
                <a:solidFill>
                  <a:srgbClr val="2C3A47"/>
                </a:solidFill>
              </a:rPr>
              <a:t>Applying a preset replaces the existing profile rather than merging with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600000" y="3878918"/>
            <a:ext cx="10800000" cy="8421082"/>
          </a:xfrm>
          <a:prstGeom prst="roundRect">
            <a:avLst>
              <a:gd name="adj" fmla="val 12000"/>
            </a:avLst>
          </a:prstGeom>
          <a:solidFill>
            <a:srgbClr val="E6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12600000" y="4295273"/>
            <a:ext cx="10800000" cy="6753030"/>
          </a:xfrm>
          <a:prstGeom prst="rect">
            <a:avLst/>
          </a:prstGeom>
          <a:noFill/>
        </p:spPr>
        <p:txBody>
          <a:bodyPr wrap="square" lIns="400000" tIns="400000" rIns="400000" bIns="400000" anchor="t">
            <a:spAutoFit/>
          </a:bodyPr>
          <a:lstStyle/>
          <a:p>
            <a:r>
              <a:rPr sz="3600" b="1" i="0">
                <a:solidFill>
                  <a:srgbClr val="1F2D3D"/>
                </a:solidFill>
              </a:rPr>
              <a:t>UI tests</a:t>
            </a:r>
          </a:p>
          <a:p>
            <a:pPr>
              <a:spcBef>
                <a:spcPts val="200"/>
              </a:spcBef>
            </a:pPr>
            <a:r>
              <a:rPr sz="2000" b="0" i="0">
                <a:solidFill>
                  <a:srgbClr val="6B7280"/>
                </a:solidFill>
              </a:rPr>
              <a:t>4 tests • tests/test_ui_playwright.py</a:t>
            </a:r>
          </a:p>
          <a:p>
            <a:endParaRPr sz="2000" b="0" i="0">
              <a:solidFill>
                <a:srgbClr val="6B7280"/>
              </a:solidFill>
            </a:endParaRPr>
          </a:p>
          <a:p>
            <a:pPr>
              <a:spcBef>
                <a:spcPts val="1400"/>
              </a:spcBef>
            </a:pPr>
            <a:r>
              <a:rPr sz="2800" b="1" i="0">
                <a:solidFill>
                  <a:srgbClr val="6B9080"/>
                </a:solidFill>
              </a:rPr>
              <a:t>Happy path end-to-end</a:t>
            </a:r>
          </a:p>
          <a:p>
            <a:pPr>
              <a:spcBef>
                <a:spcPts val="300"/>
              </a:spcBef>
            </a:pPr>
            <a:r>
              <a:rPr sz="2000" b="0" i="0">
                <a:solidFill>
                  <a:srgbClr val="2C3A47"/>
                </a:solidFill>
              </a:rPr>
              <a:t>Register → log in → reset faults → create task → search → see result.</a:t>
            </a:r>
          </a:p>
          <a:p>
            <a:pPr>
              <a:spcBef>
                <a:spcPts val="1400"/>
              </a:spcBef>
            </a:pPr>
            <a:r>
              <a:rPr sz="2800" b="1" i="0">
                <a:solidFill>
                  <a:srgbClr val="6B9080"/>
                </a:solidFill>
              </a:rPr>
              <a:t>Edit flow</a:t>
            </a:r>
          </a:p>
          <a:p>
            <a:pPr>
              <a:spcBef>
                <a:spcPts val="300"/>
              </a:spcBef>
            </a:pPr>
            <a:r>
              <a:rPr sz="2000" b="0" i="0">
                <a:solidFill>
                  <a:srgbClr val="2C3A47"/>
                </a:solidFill>
              </a:rPr>
              <a:t>Create a task, open it in edit mode, change title + description + due date, and confirm the old row is gone.</a:t>
            </a:r>
          </a:p>
          <a:p>
            <a:pPr>
              <a:spcBef>
                <a:spcPts val="1400"/>
              </a:spcBef>
            </a:pPr>
            <a:r>
              <a:rPr sz="2800" b="1" i="0">
                <a:solidFill>
                  <a:srgbClr val="6B9080"/>
                </a:solidFill>
              </a:rPr>
              <a:t>Duplicate fault visibility</a:t>
            </a:r>
          </a:p>
          <a:p>
            <a:pPr>
              <a:spcBef>
                <a:spcPts val="300"/>
              </a:spcBef>
            </a:pPr>
            <a:r>
              <a:rPr sz="2000" b="0" i="0">
                <a:solidFill>
                  <a:srgbClr val="2C3A47"/>
                </a:solidFill>
              </a:rPr>
              <a:t>Toggle duplicate_create_bug, submit one form, assert 2+ rows actually appear in the DOM.</a:t>
            </a:r>
          </a:p>
          <a:p>
            <a:pPr>
              <a:spcBef>
                <a:spcPts val="1400"/>
              </a:spcBef>
            </a:pPr>
            <a:r>
              <a:rPr sz="2800" b="1" i="0">
                <a:solidFill>
                  <a:srgbClr val="6B9080"/>
                </a:solidFill>
              </a:rPr>
              <a:t>Preset-based search failure</a:t>
            </a:r>
          </a:p>
          <a:p>
            <a:pPr>
              <a:spcBef>
                <a:spcPts val="300"/>
              </a:spcBef>
            </a:pPr>
            <a:r>
              <a:rPr sz="2000" b="0" i="0">
                <a:solidFill>
                  <a:srgbClr val="2C3A47"/>
                </a:solidFill>
              </a:rPr>
              <a:t>Apply search_demo preset, create "Alpha Task", search for "alpha", assert zero rows (case-sensitive regression).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0" y="0"/>
            <a:ext cx="609600" cy="11176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774400" y="11176000"/>
            <a:ext cx="609600" cy="2540000"/>
          </a:xfrm>
          <a:prstGeom prst="rect">
            <a:avLst/>
          </a:prstGeom>
          <a:solidFill>
            <a:srgbClr val="F5B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0000" y="900000"/>
            <a:ext cx="9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spc="200">
                <a:solidFill>
                  <a:srgbClr val="BF5700"/>
                </a:solidFill>
                <a:latin typeface="Arial"/>
              </a:rPr>
              <a:t>TEXAS ENGINEERING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00000" y="1320000"/>
            <a:ext cx="1900000" cy="0"/>
          </a:xfrm>
          <a:prstGeom prst="line">
            <a:avLst/>
          </a:prstGeom>
          <a:ln w="28575">
            <a:solidFill>
              <a:srgbClr val="BF5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00000" y="1800000"/>
            <a:ext cx="21984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5400" b="1">
                <a:solidFill>
                  <a:srgbClr val="1F2D3D"/>
                </a:solidFill>
              </a:rPr>
              <a:t>Experimental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0" y="0"/>
            <a:ext cx="609600" cy="11176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2263A9B-59CA-F04C-8A79-EF28B9187DB6}"/>
              </a:ext>
            </a:extLst>
          </p:cNvPr>
          <p:cNvSpPr/>
          <p:nvPr/>
        </p:nvSpPr>
        <p:spPr>
          <a:xfrm>
            <a:off x="1500000" y="5800000"/>
            <a:ext cx="3400000" cy="2700000"/>
          </a:xfrm>
          <a:prstGeom prst="roundRect">
            <a:avLst>
              <a:gd name="adj" fmla="val 12000"/>
            </a:avLst>
          </a:prstGeom>
          <a:solidFill>
            <a:srgbClr val="FB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E7FBF6-4810-B86D-8B26-39458B2D5563}"/>
              </a:ext>
            </a:extLst>
          </p:cNvPr>
          <p:cNvSpPr txBox="1"/>
          <p:nvPr/>
        </p:nvSpPr>
        <p:spPr>
          <a:xfrm>
            <a:off x="1500000" y="5800000"/>
            <a:ext cx="3400000" cy="2700000"/>
          </a:xfrm>
          <a:prstGeom prst="rect">
            <a:avLst/>
          </a:prstGeom>
          <a:noFill/>
        </p:spPr>
        <p:txBody>
          <a:bodyPr wrap="square" lIns="250000" tIns="250000" rIns="250000" bIns="250000" anchor="t">
            <a:spAutoFit/>
          </a:bodyPr>
          <a:lstStyle/>
          <a:p>
            <a:r>
              <a:rPr sz="9600" b="1" i="0">
                <a:solidFill>
                  <a:srgbClr val="BF5700"/>
                </a:solidFill>
              </a:rPr>
              <a:t>9</a:t>
            </a:r>
          </a:p>
          <a:p>
            <a:r>
              <a:rPr sz="2000" b="0" i="0">
                <a:solidFill>
                  <a:srgbClr val="2C3A47"/>
                </a:solidFill>
              </a:rPr>
              <a:t>API tests passed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F046B90-5CE7-B16D-6D77-F5237C19154A}"/>
              </a:ext>
            </a:extLst>
          </p:cNvPr>
          <p:cNvSpPr/>
          <p:nvPr/>
        </p:nvSpPr>
        <p:spPr>
          <a:xfrm>
            <a:off x="5400000" y="5800000"/>
            <a:ext cx="3400000" cy="2700000"/>
          </a:xfrm>
          <a:prstGeom prst="roundRect">
            <a:avLst>
              <a:gd name="adj" fmla="val 12000"/>
            </a:avLst>
          </a:prstGeom>
          <a:solidFill>
            <a:srgbClr val="E6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5531A7-BC31-00F4-21B7-59E3FA61508B}"/>
              </a:ext>
            </a:extLst>
          </p:cNvPr>
          <p:cNvSpPr txBox="1"/>
          <p:nvPr/>
        </p:nvSpPr>
        <p:spPr>
          <a:xfrm>
            <a:off x="5400000" y="5800000"/>
            <a:ext cx="3400000" cy="2700000"/>
          </a:xfrm>
          <a:prstGeom prst="rect">
            <a:avLst/>
          </a:prstGeom>
          <a:noFill/>
        </p:spPr>
        <p:txBody>
          <a:bodyPr wrap="square" lIns="250000" tIns="250000" rIns="250000" bIns="250000" anchor="t">
            <a:spAutoFit/>
          </a:bodyPr>
          <a:lstStyle/>
          <a:p>
            <a:r>
              <a:rPr sz="9600" b="1" i="0">
                <a:solidFill>
                  <a:srgbClr val="6B9080"/>
                </a:solidFill>
              </a:rPr>
              <a:t>4</a:t>
            </a:r>
          </a:p>
          <a:p>
            <a:r>
              <a:rPr sz="2000" b="0" i="0">
                <a:solidFill>
                  <a:srgbClr val="2C3A47"/>
                </a:solidFill>
              </a:rPr>
              <a:t>UI tests passed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3F931FB-3531-A2EF-8B97-64D5870B3DE1}"/>
              </a:ext>
            </a:extLst>
          </p:cNvPr>
          <p:cNvSpPr/>
          <p:nvPr/>
        </p:nvSpPr>
        <p:spPr>
          <a:xfrm>
            <a:off x="9300000" y="5800000"/>
            <a:ext cx="13584000" cy="2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940003-36D0-D2CD-EC06-40F7D6EDB304}"/>
              </a:ext>
            </a:extLst>
          </p:cNvPr>
          <p:cNvSpPr txBox="1"/>
          <p:nvPr/>
        </p:nvSpPr>
        <p:spPr>
          <a:xfrm>
            <a:off x="9300000" y="5588000"/>
            <a:ext cx="13584000" cy="3252738"/>
          </a:xfrm>
          <a:prstGeom prst="rect">
            <a:avLst/>
          </a:prstGeom>
          <a:noFill/>
        </p:spPr>
        <p:txBody>
          <a:bodyPr wrap="square" lIns="300000" tIns="300000" rIns="300000" bIns="300000" anchor="t">
            <a:spAutoFit/>
          </a:bodyPr>
          <a:lstStyle/>
          <a:p>
            <a:r>
              <a:rPr sz="2800" b="1" i="0" dirty="0">
                <a:solidFill>
                  <a:srgbClr val="1F2D3D"/>
                </a:solidFill>
              </a:rPr>
              <a:t>Representative outcomes</a:t>
            </a:r>
          </a:p>
          <a:p>
            <a:endParaRPr sz="2800" b="1" i="0" dirty="0">
              <a:solidFill>
                <a:srgbClr val="1F2D3D"/>
              </a:solidFill>
            </a:endParaRPr>
          </a:p>
          <a:p>
            <a:pPr>
              <a:spcBef>
                <a:spcPts val="600"/>
              </a:spcBef>
            </a:pPr>
            <a:r>
              <a:rPr sz="2400" b="0" i="0" dirty="0">
                <a:solidFill>
                  <a:srgbClr val="2C3A47"/>
                </a:solidFill>
              </a:rPr>
              <a:t>Duplicate create → one submit creates two rows.</a:t>
            </a:r>
          </a:p>
          <a:p>
            <a:pPr>
              <a:spcBef>
                <a:spcPts val="600"/>
              </a:spcBef>
            </a:pPr>
            <a:r>
              <a:rPr sz="2400" b="0" i="0" dirty="0">
                <a:solidFill>
                  <a:srgbClr val="2C3A47"/>
                </a:solidFill>
              </a:rPr>
              <a:t>Search preset → 'alpha' does not find 'Alpha Task'.</a:t>
            </a:r>
          </a:p>
          <a:p>
            <a:pPr>
              <a:spcBef>
                <a:spcPts val="600"/>
              </a:spcBef>
            </a:pPr>
            <a:r>
              <a:rPr sz="2400" b="0" i="0" dirty="0">
                <a:solidFill>
                  <a:srgbClr val="2C3A47"/>
                </a:solidFill>
              </a:rPr>
              <a:t>Timing preset → UI slows down and due-date edges become easier to challenge.</a:t>
            </a:r>
          </a:p>
          <a:p>
            <a:pPr>
              <a:spcBef>
                <a:spcPts val="600"/>
              </a:spcBef>
            </a:pPr>
            <a:r>
              <a:rPr sz="2400" b="0" i="0" dirty="0">
                <a:solidFill>
                  <a:srgbClr val="2C3A47"/>
                </a:solidFill>
              </a:rPr>
              <a:t>Sorting preset → ordering becomes less stable and more surprising.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2FAC7E7-ECA3-643C-5F51-84E90F5317C2}"/>
              </a:ext>
            </a:extLst>
          </p:cNvPr>
          <p:cNvSpPr/>
          <p:nvPr/>
        </p:nvSpPr>
        <p:spPr>
          <a:xfrm>
            <a:off x="1500000" y="9100000"/>
            <a:ext cx="10500000" cy="3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B7903E-692B-B3EF-AB04-BC3978AF3CE5}"/>
              </a:ext>
            </a:extLst>
          </p:cNvPr>
          <p:cNvSpPr txBox="1"/>
          <p:nvPr/>
        </p:nvSpPr>
        <p:spPr>
          <a:xfrm>
            <a:off x="1500000" y="9100000"/>
            <a:ext cx="10500000" cy="2984383"/>
          </a:xfrm>
          <a:prstGeom prst="rect">
            <a:avLst/>
          </a:prstGeom>
          <a:noFill/>
        </p:spPr>
        <p:txBody>
          <a:bodyPr wrap="square" lIns="350000" tIns="350000" rIns="350000" bIns="350000" anchor="t">
            <a:spAutoFit/>
          </a:bodyPr>
          <a:lstStyle/>
          <a:p>
            <a:r>
              <a:rPr sz="2800" b="1" i="0" dirty="0">
                <a:solidFill>
                  <a:srgbClr val="1F2D3D"/>
                </a:solidFill>
              </a:rPr>
              <a:t>What improved the most</a:t>
            </a:r>
          </a:p>
          <a:p>
            <a:endParaRPr sz="2800" b="1" i="0" dirty="0">
              <a:solidFill>
                <a:srgbClr val="1F2D3D"/>
              </a:solidFill>
            </a:endParaRPr>
          </a:p>
          <a:p>
            <a:pPr>
              <a:spcBef>
                <a:spcPts val="800"/>
              </a:spcBef>
            </a:pPr>
            <a:r>
              <a:rPr sz="2400" b="0" i="0" dirty="0">
                <a:solidFill>
                  <a:srgbClr val="2C3A47"/>
                </a:solidFill>
              </a:rPr>
              <a:t>Session-based faults made behavior easier to isolate.</a:t>
            </a:r>
          </a:p>
          <a:p>
            <a:pPr>
              <a:spcBef>
                <a:spcPts val="800"/>
              </a:spcBef>
            </a:pPr>
            <a:r>
              <a:rPr sz="2400" b="0" i="0" dirty="0">
                <a:solidFill>
                  <a:srgbClr val="2C3A47"/>
                </a:solidFill>
              </a:rPr>
              <a:t>UI controls made the lab much easier to present.</a:t>
            </a:r>
          </a:p>
          <a:p>
            <a:pPr>
              <a:spcBef>
                <a:spcPts val="800"/>
              </a:spcBef>
            </a:pPr>
            <a:r>
              <a:rPr sz="2400" b="0" i="0" dirty="0">
                <a:solidFill>
                  <a:srgbClr val="2C3A47"/>
                </a:solidFill>
              </a:rPr>
              <a:t>Task editing made the app feel less fake.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0000" y="900000"/>
            <a:ext cx="9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spc="200">
                <a:solidFill>
                  <a:srgbClr val="BF5700"/>
                </a:solidFill>
                <a:latin typeface="Arial"/>
              </a:rPr>
              <a:t>TEXAS ENGINEERING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00000" y="1320000"/>
            <a:ext cx="1900000" cy="0"/>
          </a:xfrm>
          <a:prstGeom prst="line">
            <a:avLst/>
          </a:prstGeom>
          <a:ln w="28575">
            <a:solidFill>
              <a:srgbClr val="BF5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00000" y="1800000"/>
            <a:ext cx="21984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5400" b="1">
                <a:solidFill>
                  <a:srgbClr val="1F2D3D"/>
                </a:solidFill>
              </a:rPr>
              <a:t>Issues we ran into and how we fixed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000" y="5800000"/>
            <a:ext cx="12500000" cy="6058351"/>
          </a:xfrm>
          <a:prstGeom prst="rect">
            <a:avLst/>
          </a:prstGeom>
          <a:noFill/>
        </p:spPr>
        <p:txBody>
          <a:bodyPr wrap="square" lIns="150000" tIns="150000" rIns="150000" bIns="150000" anchor="t">
            <a:spAutoFit/>
          </a:bodyPr>
          <a:lstStyle/>
          <a:p>
            <a:r>
              <a:rPr sz="3200" b="1" i="0">
                <a:solidFill>
                  <a:srgbClr val="1F2D3D"/>
                </a:solidFill>
              </a:rPr>
              <a:t>•  API-only controls felt hidden</a:t>
            </a:r>
          </a:p>
          <a:p>
            <a:pPr>
              <a:spcBef>
                <a:spcPts val="400"/>
              </a:spcBef>
            </a:pPr>
            <a:r>
              <a:rPr sz="2400" b="0" i="0">
                <a:solidFill>
                  <a:srgbClr val="2C3A47"/>
                </a:solidFill>
              </a:rPr>
              <a:t>     Fix: moved fault toggles into the dashboard and kept the API mainly for automation.</a:t>
            </a:r>
          </a:p>
          <a:p>
            <a:pPr>
              <a:spcBef>
                <a:spcPts val="1600"/>
              </a:spcBef>
            </a:pPr>
            <a:r>
              <a:rPr sz="3200" b="1" i="0">
                <a:solidFill>
                  <a:srgbClr val="1F2D3D"/>
                </a:solidFill>
              </a:rPr>
              <a:t>•  Global fault state was messy</a:t>
            </a:r>
          </a:p>
          <a:p>
            <a:pPr>
              <a:spcBef>
                <a:spcPts val="400"/>
              </a:spcBef>
            </a:pPr>
            <a:r>
              <a:rPr sz="2400" b="0" i="0">
                <a:solidFill>
                  <a:srgbClr val="2C3A47"/>
                </a:solidFill>
              </a:rPr>
              <a:t>     Fix: stored the fault profile in the browser session so demos do not interfere with one another.</a:t>
            </a:r>
          </a:p>
          <a:p>
            <a:pPr>
              <a:spcBef>
                <a:spcPts val="1600"/>
              </a:spcBef>
            </a:pPr>
            <a:r>
              <a:rPr sz="3200" b="1" i="0">
                <a:solidFill>
                  <a:srgbClr val="1F2D3D"/>
                </a:solidFill>
              </a:rPr>
              <a:t>•  The app needed a better workflow</a:t>
            </a:r>
          </a:p>
          <a:p>
            <a:pPr>
              <a:spcBef>
                <a:spcPts val="400"/>
              </a:spcBef>
            </a:pPr>
            <a:r>
              <a:rPr sz="2400" b="0" i="0">
                <a:solidFill>
                  <a:srgbClr val="2C3A47"/>
                </a:solidFill>
              </a:rPr>
              <a:t>     Fix: added edit-task support instead of forcing everything through create/delete.</a:t>
            </a:r>
          </a:p>
          <a:p>
            <a:pPr>
              <a:spcBef>
                <a:spcPts val="1600"/>
              </a:spcBef>
            </a:pPr>
            <a:r>
              <a:rPr sz="3200" b="1" i="0">
                <a:solidFill>
                  <a:srgbClr val="1F2D3D"/>
                </a:solidFill>
              </a:rPr>
              <a:t>•  Button clicks jumped back to the top</a:t>
            </a:r>
          </a:p>
          <a:p>
            <a:pPr>
              <a:spcBef>
                <a:spcPts val="400"/>
              </a:spcBef>
            </a:pPr>
            <a:r>
              <a:rPr sz="2400" b="0" i="0">
                <a:solidFill>
                  <a:srgbClr val="2C3A47"/>
                </a:solidFill>
              </a:rPr>
              <a:t>     Fix: added a lightweight scroll-restore script so the page stays near the action.</a:t>
            </a:r>
          </a:p>
          <a:p>
            <a:pPr>
              <a:spcBef>
                <a:spcPts val="1600"/>
              </a:spcBef>
            </a:pPr>
            <a:r>
              <a:rPr sz="3200" b="1" i="0">
                <a:solidFill>
                  <a:srgbClr val="1F2D3D"/>
                </a:solidFill>
              </a:rPr>
              <a:t>•  Demo screenshots looked incomplete</a:t>
            </a:r>
          </a:p>
          <a:p>
            <a:pPr>
              <a:spcBef>
                <a:spcPts val="400"/>
              </a:spcBef>
            </a:pPr>
            <a:r>
              <a:rPr sz="2400" b="0" i="0">
                <a:solidFill>
                  <a:srgbClr val="2C3A47"/>
                </a:solidFill>
              </a:rPr>
              <a:t>     Fix: capture full-page images after the page settles and scrolls back to the top.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084000" y="5800000"/>
            <a:ext cx="7800000" cy="4600000"/>
          </a:xfrm>
          <a:prstGeom prst="roundRect">
            <a:avLst>
              <a:gd name="adj" fmla="val 10000"/>
            </a:avLst>
          </a:prstGeom>
          <a:solidFill>
            <a:srgbClr val="F0D8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15084000" y="5800000"/>
            <a:ext cx="7800000" cy="4885852"/>
          </a:xfrm>
          <a:prstGeom prst="rect">
            <a:avLst/>
          </a:prstGeom>
          <a:noFill/>
        </p:spPr>
        <p:txBody>
          <a:bodyPr wrap="square" lIns="400000" tIns="400000" rIns="400000" bIns="400000" anchor="t">
            <a:spAutoFit/>
          </a:bodyPr>
          <a:lstStyle/>
          <a:p>
            <a:r>
              <a:rPr sz="3600" b="1" i="0">
                <a:solidFill>
                  <a:srgbClr val="1F2D3D"/>
                </a:solidFill>
              </a:rPr>
              <a:t>Why those fixes matter</a:t>
            </a:r>
          </a:p>
          <a:p>
            <a:endParaRPr sz="3600" b="1" i="0">
              <a:solidFill>
                <a:srgbClr val="1F2D3D"/>
              </a:solidFill>
            </a:endParaRPr>
          </a:p>
          <a:p>
            <a:pPr>
              <a:spcBef>
                <a:spcPts val="1000"/>
              </a:spcBef>
            </a:pPr>
            <a:r>
              <a:rPr sz="2800" b="0" i="0">
                <a:solidFill>
                  <a:srgbClr val="2C3A47"/>
                </a:solidFill>
              </a:rPr>
              <a:t>Without them, the project technically works but feels unfinished.</a:t>
            </a:r>
          </a:p>
          <a:p>
            <a:pPr>
              <a:spcBef>
                <a:spcPts val="1000"/>
              </a:spcBef>
            </a:pPr>
            <a:r>
              <a:rPr sz="2800" b="0" i="0">
                <a:solidFill>
                  <a:srgbClr val="2C3A47"/>
                </a:solidFill>
              </a:rPr>
              <a:t>With them, the app, tests, screenshots, and presentation all tell the same story.</a:t>
            </a:r>
          </a:p>
          <a:p>
            <a:pPr>
              <a:spcBef>
                <a:spcPts val="1000"/>
              </a:spcBef>
            </a:pPr>
            <a:r>
              <a:rPr sz="2800" b="0" i="0">
                <a:solidFill>
                  <a:srgbClr val="2C3A47"/>
                </a:solidFill>
              </a:rPr>
              <a:t>That ended up being one of the biggest lessons of the whole project.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0" y="0"/>
            <a:ext cx="609600" cy="11176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774400" y="11176000"/>
            <a:ext cx="609600" cy="2540000"/>
          </a:xfrm>
          <a:prstGeom prst="rect">
            <a:avLst/>
          </a:prstGeom>
          <a:solidFill>
            <a:srgbClr val="F5B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0000" y="900000"/>
            <a:ext cx="9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spc="200">
                <a:solidFill>
                  <a:srgbClr val="BF5700"/>
                </a:solidFill>
                <a:latin typeface="Arial"/>
              </a:rPr>
              <a:t>TEXAS ENGINEERING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00000" y="1320000"/>
            <a:ext cx="1900000" cy="0"/>
          </a:xfrm>
          <a:prstGeom prst="line">
            <a:avLst/>
          </a:prstGeom>
          <a:ln w="28575">
            <a:solidFill>
              <a:srgbClr val="BF5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00000" y="1800000"/>
            <a:ext cx="21984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5400" b="1">
                <a:solidFill>
                  <a:srgbClr val="1F2D3D"/>
                </a:solidFill>
              </a:rPr>
              <a:t>All 5 demo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" y="3280000"/>
            <a:ext cx="21984000" cy="6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>
                <a:solidFill>
                  <a:srgbClr val="6B7280"/>
                </a:solidFill>
              </a:rPr>
              <a:t>demo_browser_run.py launches a visible browser and captures a full-page screenshot of each scenario.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61677" y="5600000"/>
            <a:ext cx="3932129" cy="7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677" y="5700000"/>
            <a:ext cx="3732129" cy="62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61677" y="12000000"/>
            <a:ext cx="3932129" cy="800000"/>
          </a:xfrm>
          <a:prstGeom prst="rect">
            <a:avLst/>
          </a:prstGeom>
          <a:noFill/>
        </p:spPr>
        <p:txBody>
          <a:bodyPr wrap="square" lIns="50000" tIns="50000" rIns="50000" bIns="50000" anchor="t">
            <a:spAutoFit/>
          </a:bodyPr>
          <a:lstStyle/>
          <a:p>
            <a:pPr algn="ctr"/>
            <a:r>
              <a:rPr sz="1600" b="1" i="0">
                <a:solidFill>
                  <a:srgbClr val="1F2D3D"/>
                </a:solidFill>
              </a:rPr>
              <a:t>1. Happy path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6B7280"/>
                </a:solidFill>
              </a:rPr>
              <a:t>no faults active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3806" y="5600000"/>
            <a:ext cx="3932129" cy="7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emo_scenario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806" y="5700000"/>
            <a:ext cx="3732129" cy="62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43806" y="12000000"/>
            <a:ext cx="3932129" cy="800000"/>
          </a:xfrm>
          <a:prstGeom prst="rect">
            <a:avLst/>
          </a:prstGeom>
          <a:noFill/>
        </p:spPr>
        <p:txBody>
          <a:bodyPr wrap="square" lIns="50000" tIns="50000" rIns="50000" bIns="50000" anchor="t">
            <a:spAutoFit/>
          </a:bodyPr>
          <a:lstStyle/>
          <a:p>
            <a:pPr algn="ctr"/>
            <a:r>
              <a:rPr sz="1600" b="1" i="0">
                <a:solidFill>
                  <a:srgbClr val="1F2D3D"/>
                </a:solidFill>
              </a:rPr>
              <a:t>2. Duplicate create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6B7280"/>
                </a:solidFill>
              </a:rPr>
              <a:t>duplicate_create_bug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25935" y="5600000"/>
            <a:ext cx="3932129" cy="7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5935" y="5700000"/>
            <a:ext cx="3732129" cy="620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25935" y="12000000"/>
            <a:ext cx="3932129" cy="800000"/>
          </a:xfrm>
          <a:prstGeom prst="rect">
            <a:avLst/>
          </a:prstGeom>
          <a:noFill/>
        </p:spPr>
        <p:txBody>
          <a:bodyPr wrap="square" lIns="50000" tIns="50000" rIns="50000" bIns="50000" anchor="t">
            <a:spAutoFit/>
          </a:bodyPr>
          <a:lstStyle/>
          <a:p>
            <a:pPr algn="ctr"/>
            <a:r>
              <a:rPr sz="1600" b="1" i="0">
                <a:solidFill>
                  <a:srgbClr val="1F2D3D"/>
                </a:solidFill>
              </a:rPr>
              <a:t>3. Search demo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6B7280"/>
                </a:solidFill>
              </a:rPr>
              <a:t>search_bug via preset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308064" y="5600000"/>
            <a:ext cx="3932129" cy="7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demo_scenario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8064" y="5700000"/>
            <a:ext cx="3732129" cy="620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308064" y="12000000"/>
            <a:ext cx="3932129" cy="800000"/>
          </a:xfrm>
          <a:prstGeom prst="rect">
            <a:avLst/>
          </a:prstGeom>
          <a:noFill/>
        </p:spPr>
        <p:txBody>
          <a:bodyPr wrap="square" lIns="50000" tIns="50000" rIns="50000" bIns="50000" anchor="t">
            <a:spAutoFit/>
          </a:bodyPr>
          <a:lstStyle/>
          <a:p>
            <a:pPr algn="ctr"/>
            <a:r>
              <a:rPr sz="1600" b="1" i="0">
                <a:solidFill>
                  <a:srgbClr val="1F2D3D"/>
                </a:solidFill>
              </a:rPr>
              <a:t>4. Timing demo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6B7280"/>
                </a:solidFill>
              </a:rPr>
              <a:t>slow_ui + midnight_boundary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390193" y="5600000"/>
            <a:ext cx="3932129" cy="73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emo_scenario_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90193" y="5700000"/>
            <a:ext cx="3732129" cy="620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390193" y="12000000"/>
            <a:ext cx="3932129" cy="800000"/>
          </a:xfrm>
          <a:prstGeom prst="rect">
            <a:avLst/>
          </a:prstGeom>
          <a:noFill/>
        </p:spPr>
        <p:txBody>
          <a:bodyPr wrap="square" lIns="50000" tIns="50000" rIns="50000" bIns="50000" anchor="t">
            <a:spAutoFit/>
          </a:bodyPr>
          <a:lstStyle/>
          <a:p>
            <a:pPr algn="ctr"/>
            <a:r>
              <a:rPr sz="1600" b="1" i="0">
                <a:solidFill>
                  <a:srgbClr val="1F2D3D"/>
                </a:solidFill>
              </a:rPr>
              <a:t>5. Sorting demo</a:t>
            </a:r>
          </a:p>
          <a:p>
            <a:pPr algn="ctr">
              <a:spcBef>
                <a:spcPts val="300"/>
              </a:spcBef>
            </a:pPr>
            <a:r>
              <a:rPr sz="1200" b="0" i="0">
                <a:solidFill>
                  <a:srgbClr val="6B7280"/>
                </a:solidFill>
              </a:rPr>
              <a:t>unstable_sort_bug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0" y="0"/>
            <a:ext cx="609600" cy="11176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3774400" y="11176000"/>
            <a:ext cx="609600" cy="2540000"/>
          </a:xfrm>
          <a:prstGeom prst="rect">
            <a:avLst/>
          </a:prstGeom>
          <a:solidFill>
            <a:srgbClr val="F5B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00000" y="900000"/>
            <a:ext cx="9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spc="200">
                <a:solidFill>
                  <a:srgbClr val="BF5700"/>
                </a:solidFill>
                <a:latin typeface="Arial"/>
              </a:rPr>
              <a:t>TEXAS ENGINEERING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00000" y="1320000"/>
            <a:ext cx="1900000" cy="0"/>
          </a:xfrm>
          <a:prstGeom prst="line">
            <a:avLst/>
          </a:prstGeom>
          <a:ln w="28575">
            <a:solidFill>
              <a:srgbClr val="BF5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00000" y="1800000"/>
            <a:ext cx="21984000" cy="14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5400" b="1">
                <a:solidFill>
                  <a:srgbClr val="1F2D3D"/>
                </a:solidFill>
              </a:rPr>
              <a:t>Takeaways and demo commands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8399" y="3871200"/>
            <a:ext cx="10638313" cy="78768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1328399" y="3871200"/>
            <a:ext cx="10638313" cy="6696604"/>
          </a:xfrm>
          <a:prstGeom prst="rect">
            <a:avLst/>
          </a:prstGeom>
          <a:noFill/>
        </p:spPr>
        <p:txBody>
          <a:bodyPr wrap="square" lIns="400000" tIns="400000" rIns="400000" bIns="400000" anchor="t">
            <a:spAutoFit/>
          </a:bodyPr>
          <a:lstStyle/>
          <a:p>
            <a:r>
              <a:rPr sz="4000" b="1" i="0">
                <a:solidFill>
                  <a:srgbClr val="1F2D3D"/>
                </a:solidFill>
              </a:rPr>
              <a:t>Main takeaways</a:t>
            </a:r>
          </a:p>
          <a:p>
            <a:endParaRPr sz="4000" b="1" i="0">
              <a:solidFill>
                <a:srgbClr val="1F2D3D"/>
              </a:solidFill>
            </a:endParaRPr>
          </a:p>
          <a:p>
            <a:pPr>
              <a:spcBef>
                <a:spcPts val="1400"/>
              </a:spcBef>
            </a:pPr>
            <a:r>
              <a:rPr sz="3200" b="0" i="0">
                <a:solidFill>
                  <a:srgbClr val="2C3A47"/>
                </a:solidFill>
              </a:rPr>
              <a:t>A small app can still show meaningful flaky behavior if the fault profiles are chosen carefully.</a:t>
            </a:r>
          </a:p>
          <a:p>
            <a:pPr>
              <a:spcBef>
                <a:spcPts val="1400"/>
              </a:spcBef>
            </a:pPr>
            <a:r>
              <a:rPr sz="3200" b="0" i="0">
                <a:solidFill>
                  <a:srgbClr val="2C3A47"/>
                </a:solidFill>
              </a:rPr>
              <a:t>Session-based controls were one of the most important design improvements.</a:t>
            </a:r>
          </a:p>
          <a:p>
            <a:pPr>
              <a:spcBef>
                <a:spcPts val="1400"/>
              </a:spcBef>
            </a:pPr>
            <a:r>
              <a:rPr sz="3200" b="0" i="0">
                <a:solidFill>
                  <a:srgbClr val="2C3A47"/>
                </a:solidFill>
              </a:rPr>
              <a:t>Polish matters: editing, scroll behavior, and better screenshots made the project much easier to present.</a:t>
            </a:r>
          </a:p>
          <a:p>
            <a:pPr>
              <a:spcBef>
                <a:spcPts val="1400"/>
              </a:spcBef>
            </a:pPr>
            <a:r>
              <a:rPr sz="3200" b="0" i="0">
                <a:solidFill>
                  <a:srgbClr val="2C3A47"/>
                </a:solidFill>
              </a:rPr>
              <a:t>The final version connects features, tests, and demo artifacts in one place.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428399" y="3871200"/>
            <a:ext cx="10725923" cy="7876852"/>
          </a:xfrm>
          <a:prstGeom prst="roundRect">
            <a:avLst>
              <a:gd name="adj" fmla="val 12000"/>
            </a:avLst>
          </a:prstGeom>
          <a:solidFill>
            <a:srgbClr val="E8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TextBox 8"/>
          <p:cNvSpPr txBox="1"/>
          <p:nvPr/>
        </p:nvSpPr>
        <p:spPr>
          <a:xfrm>
            <a:off x="12428399" y="3871200"/>
            <a:ext cx="10725923" cy="4685797"/>
          </a:xfrm>
          <a:prstGeom prst="rect">
            <a:avLst/>
          </a:prstGeom>
          <a:noFill/>
        </p:spPr>
        <p:txBody>
          <a:bodyPr wrap="square" lIns="400000" tIns="400000" rIns="400000" bIns="400000" anchor="t">
            <a:spAutoFit/>
          </a:bodyPr>
          <a:lstStyle/>
          <a:p>
            <a:r>
              <a:rPr lang="en-US" sz="2800" b="1" dirty="0"/>
              <a:t>Future Work</a:t>
            </a:r>
          </a:p>
          <a:p>
            <a:endParaRPr lang="en-US" sz="2800" dirty="0"/>
          </a:p>
          <a:p>
            <a:r>
              <a:rPr lang="en-US" sz="2800" dirty="0"/>
              <a:t>CI/CD integration (GitHub Actions) </a:t>
            </a:r>
          </a:p>
          <a:p>
            <a:endParaRPr lang="en-US" sz="2800" dirty="0"/>
          </a:p>
          <a:p>
            <a:r>
              <a:rPr lang="en-US" sz="2800" dirty="0"/>
              <a:t>Multi-user testing scenarios </a:t>
            </a:r>
          </a:p>
          <a:p>
            <a:endParaRPr lang="en-US" sz="2800" dirty="0"/>
          </a:p>
          <a:p>
            <a:r>
              <a:rPr lang="en-US" sz="2800" dirty="0"/>
              <a:t>More fault types (network latency, API failure) </a:t>
            </a:r>
          </a:p>
          <a:p>
            <a:endParaRPr lang="en-US" sz="2800" dirty="0"/>
          </a:p>
          <a:p>
            <a:r>
              <a:rPr lang="en-US" sz="2800" dirty="0"/>
              <a:t>Metrics dashboard (failure rates, timing)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0" y="0"/>
            <a:ext cx="609600" cy="11176000"/>
          </a:xfrm>
          <a:prstGeom prst="rect">
            <a:avLst/>
          </a:prstGeom>
          <a:solidFill>
            <a:srgbClr val="BF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774400" y="11176000"/>
            <a:ext cx="609600" cy="2540000"/>
          </a:xfrm>
          <a:prstGeom prst="rect">
            <a:avLst/>
          </a:prstGeom>
          <a:solidFill>
            <a:srgbClr val="F5B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7">
            <a:extLst>
              <a:ext uri="{FF2B5EF4-FFF2-40B4-BE49-F238E27FC236}">
                <a16:creationId xmlns:a16="http://schemas.microsoft.com/office/drawing/2014/main" id="{D9CC29AE-3AF6-A54E-BBBB-5D118B1146DF}"/>
              </a:ext>
            </a:extLst>
          </p:cNvPr>
          <p:cNvSpPr txBox="1">
            <a:spLocks/>
          </p:cNvSpPr>
          <p:nvPr/>
        </p:nvSpPr>
        <p:spPr>
          <a:xfrm>
            <a:off x="1237586" y="5105400"/>
            <a:ext cx="9607623" cy="3505200"/>
          </a:xfrm>
          <a:prstGeom prst="rect">
            <a:avLst/>
          </a:prstGeom>
        </p:spPr>
        <p:txBody>
          <a:bodyPr vert="horz" wrap="square" lIns="182880" tIns="91440" rIns="182880" bIns="91440" rtlCol="0" anchor="ctr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>
              <a:lnSpc>
                <a:spcPct val="70000"/>
              </a:lnSpc>
            </a:pPr>
            <a:r>
              <a:rPr lang="en-US" sz="9600" dirty="0">
                <a:solidFill>
                  <a:schemeClr val="tx2"/>
                </a:solidFill>
              </a:rPr>
              <a:t>THANK YOU.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EE763-A249-DA4D-A908-1C16AF70F10A}"/>
              </a:ext>
            </a:extLst>
          </p:cNvPr>
          <p:cNvSpPr txBox="1"/>
          <p:nvPr/>
        </p:nvSpPr>
        <p:spPr>
          <a:xfrm>
            <a:off x="12854099" y="4018761"/>
            <a:ext cx="9729456" cy="567847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FastAPI + SQLite — 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session-scoped fault injection</a:t>
            </a:r>
          </a:p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Pytest + Playwright —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API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UI, 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visible browser demo</a:t>
            </a:r>
          </a:p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Six fault profiles, three demo presets — </a:t>
            </a: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repeatable bug scenarios</a:t>
            </a:r>
          </a:p>
          <a:p>
            <a:pPr marL="342900" indent="-342900">
              <a:lnSpc>
                <a:spcPct val="150000"/>
              </a:lnSpc>
              <a:spcBef>
                <a:spcPts val="3000"/>
              </a:spcBef>
              <a:buClr>
                <a:schemeClr val="tx2"/>
              </a:buClr>
              <a:buSzPct val="125000"/>
              <a:buFont typeface="Wingdings" pitchFamily="2" charset="2"/>
              <a:buChar char="§"/>
            </a:pPr>
            <a:endParaRPr lang="en-US" sz="3200" dirty="0"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buClr>
                <a:schemeClr val="tx2"/>
              </a:buClr>
              <a:buSzPct val="125000"/>
            </a:pPr>
            <a:r>
              <a:rPr lang="en-US" sz="3200" dirty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Hamiz Siddiqui — MS Computer Science</a:t>
            </a:r>
          </a:p>
          <a:p>
            <a:pPr>
              <a:buClr>
                <a:schemeClr val="tx2"/>
              </a:buClr>
              <a:buSzPct val="125000"/>
            </a:pPr>
            <a:endParaRPr lang="en-US" sz="3200" b="1" dirty="0">
              <a:solidFill>
                <a:schemeClr val="tx2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buClr>
                <a:schemeClr val="tx2"/>
              </a:buClr>
              <a:buSzPct val="125000"/>
            </a:pPr>
            <a:r>
              <a:rPr lang="en-US" sz="3200" b="1" dirty="0" err="1">
                <a:solidFill>
                  <a:schemeClr val="tx2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TimeBox Testing Lab • April 2026</a:t>
            </a:r>
            <a:endParaRPr lang="en-US" sz="3200" b="1" dirty="0">
              <a:solidFill>
                <a:schemeClr val="tx2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DCB49B-2184-EC45-BCEE-4BCA6F4DF882}"/>
              </a:ext>
            </a:extLst>
          </p:cNvPr>
          <p:cNvCxnSpPr>
            <a:cxnSpLocks/>
          </p:cNvCxnSpPr>
          <p:nvPr/>
        </p:nvCxnSpPr>
        <p:spPr>
          <a:xfrm>
            <a:off x="12192000" y="3422177"/>
            <a:ext cx="0" cy="687164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99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T-Theme">
  <a:themeElements>
    <a:clrScheme name="UT">
      <a:dk1>
        <a:srgbClr val="333F48"/>
      </a:dk1>
      <a:lt1>
        <a:srgbClr val="FFFFFF"/>
      </a:lt1>
      <a:dk2>
        <a:srgbClr val="BF5700"/>
      </a:dk2>
      <a:lt2>
        <a:srgbClr val="FFFFFF"/>
      </a:lt2>
      <a:accent1>
        <a:srgbClr val="F8971F"/>
      </a:accent1>
      <a:accent2>
        <a:srgbClr val="FFD600"/>
      </a:accent2>
      <a:accent3>
        <a:srgbClr val="A6CD57"/>
      </a:accent3>
      <a:accent4>
        <a:srgbClr val="005F86"/>
      </a:accent4>
      <a:accent5>
        <a:srgbClr val="5B9BD5"/>
      </a:accent5>
      <a:accent6>
        <a:srgbClr val="9CADB7"/>
      </a:accent6>
      <a:hlink>
        <a:srgbClr val="BF5700"/>
      </a:hlink>
      <a:folHlink>
        <a:srgbClr val="BF57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8E3D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50800">
          <a:solidFill>
            <a:schemeClr val="bg1">
              <a:lumMod val="9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6000" smtClean="0">
            <a:latin typeface="Montserrat Black" panose="00000A00000000000000" pitchFamily="50" charset="0"/>
            <a:ea typeface="Roboto Slab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UT-Theme" id="{D16FE7CF-F23E-3F49-B460-1D086A6DCFBD}" vid="{9C78496B-9871-A644-BC61-45D0E5402D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CBF8505-7328-1F4C-9FC7-B18143EE5251}">
  <we:reference id="wa200000729" version="3.9.283.0" store="en-US" storeType="OMEX"/>
  <we:alternateReferences>
    <we:reference id="WA200000729" version="3.9.283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6049</TotalTime>
  <Words>1496</Words>
  <Application>Microsoft Macintosh PowerPoint</Application>
  <PresentationFormat>Custom</PresentationFormat>
  <Paragraphs>263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Wingdings</vt:lpstr>
      <vt:lpstr>Arial Black</vt:lpstr>
      <vt:lpstr>Open Sans</vt:lpstr>
      <vt:lpstr>UT-Theme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Texas Engineering</dc:creator>
  <cp:keywords/>
  <dc:description/>
  <cp:lastModifiedBy>Hamiz Siddiqui</cp:lastModifiedBy>
  <cp:revision>339</cp:revision>
  <dcterms:created xsi:type="dcterms:W3CDTF">2019-05-08T18:17:41Z</dcterms:created>
  <dcterms:modified xsi:type="dcterms:W3CDTF">2026-04-18T04:54:17Z</dcterms:modified>
  <cp:category/>
</cp:coreProperties>
</file>